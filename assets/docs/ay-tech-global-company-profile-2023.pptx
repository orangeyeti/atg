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08" r:id="rId2"/>
    <p:sldId id="310" r:id="rId3"/>
    <p:sldId id="312" r:id="rId4"/>
    <p:sldId id="306" r:id="rId5"/>
    <p:sldId id="311" r:id="rId6"/>
    <p:sldId id="307" r:id="rId7"/>
    <p:sldId id="295" r:id="rId8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219" autoAdjust="0"/>
  </p:normalViewPr>
  <p:slideViewPr>
    <p:cSldViewPr snapToGrid="0" showGuides="1">
      <p:cViewPr varScale="1">
        <p:scale>
          <a:sx n="77" d="100"/>
          <a:sy n="77" d="100"/>
        </p:scale>
        <p:origin x="-912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-3278" y="-67"/>
      </p:cViewPr>
      <p:guideLst>
        <p:guide orient="horz" pos="3126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AA4A7-4A2B-44D0-838C-FB6FFF99858A}" type="datetimeFigureOut">
              <a:rPr lang="ko-KR" altLang="en-US" smtClean="0"/>
              <a:t>2023-11-27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6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6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884215-68F9-4D1F-AD39-097D29972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160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884215-68F9-4D1F-AD39-097D29972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319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>
                <a:solidFill>
                  <a:prstClr val="black"/>
                </a:solidFill>
                <a:latin typeface="Calibri"/>
              </a:rPr>
              <a:pPr/>
              <a:t>2</a:t>
            </a:fld>
            <a:endParaRPr lang="zh-CN" alt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7519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>
                <a:solidFill>
                  <a:prstClr val="black"/>
                </a:solidFill>
                <a:latin typeface="Calibri"/>
              </a:rPr>
              <a:pPr/>
              <a:t>4</a:t>
            </a:fld>
            <a:endParaRPr lang="zh-CN" alt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7519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>
                <a:solidFill>
                  <a:prstClr val="black"/>
                </a:solidFill>
                <a:latin typeface="Calibri"/>
              </a:rPr>
              <a:pPr/>
              <a:t>5</a:t>
            </a:fld>
            <a:endParaRPr lang="zh-CN" alt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7519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F2CFBE-1407-414C-AC03-95A5BCF50F7C}" type="slidenum">
              <a:rPr lang="zh-CN" altLang="en-US" smtClean="0">
                <a:solidFill>
                  <a:prstClr val="black"/>
                </a:solidFill>
                <a:latin typeface="Calibri"/>
              </a:rPr>
              <a:pPr/>
              <a:t>6</a:t>
            </a:fld>
            <a:endParaRPr lang="zh-CN" alt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7519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884215-68F9-4D1F-AD39-097D2997246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82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74FC-5781-498C-82CB-AE3465D1957B}" type="datetimeFigureOut">
              <a:rPr lang="ko-KR" altLang="en-US" smtClean="0"/>
              <a:t>2023-11-27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4F9D-2D7A-40B7-A6BB-BC8377DF3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6509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74FC-5781-498C-82CB-AE3465D1957B}" type="datetimeFigureOut">
              <a:rPr lang="ko-KR" altLang="en-US" smtClean="0"/>
              <a:t>2023-11-27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4F9D-2D7A-40B7-A6BB-BC8377DF3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7978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74FC-5781-498C-82CB-AE3465D1957B}" type="datetimeFigureOut">
              <a:rPr lang="ko-KR" altLang="en-US" smtClean="0"/>
              <a:t>2023-11-27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4F9D-2D7A-40B7-A6BB-BC8377DF3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090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74FC-5781-498C-82CB-AE3465D1957B}" type="datetimeFigureOut">
              <a:rPr lang="ko-KR" altLang="en-US" smtClean="0"/>
              <a:t>2023-11-27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4F9D-2D7A-40B7-A6BB-BC8377DF3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198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74FC-5781-498C-82CB-AE3465D1957B}" type="datetimeFigureOut">
              <a:rPr lang="ko-KR" altLang="en-US" smtClean="0"/>
              <a:t>2023-11-27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4F9D-2D7A-40B7-A6BB-BC8377DF3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392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74FC-5781-498C-82CB-AE3465D1957B}" type="datetimeFigureOut">
              <a:rPr lang="ko-KR" altLang="en-US" smtClean="0"/>
              <a:t>2023-11-27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4F9D-2D7A-40B7-A6BB-BC8377DF3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371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74FC-5781-498C-82CB-AE3465D1957B}" type="datetimeFigureOut">
              <a:rPr lang="ko-KR" altLang="en-US" smtClean="0"/>
              <a:t>2023-11-27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4F9D-2D7A-40B7-A6BB-BC8377DF3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298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74FC-5781-498C-82CB-AE3465D1957B}" type="datetimeFigureOut">
              <a:rPr lang="ko-KR" altLang="en-US" smtClean="0"/>
              <a:t>2023-11-27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4F9D-2D7A-40B7-A6BB-BC8377DF3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637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74FC-5781-498C-82CB-AE3465D1957B}" type="datetimeFigureOut">
              <a:rPr lang="ko-KR" altLang="en-US" smtClean="0"/>
              <a:t>2023-11-27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4F9D-2D7A-40B7-A6BB-BC8377DF3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211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74FC-5781-498C-82CB-AE3465D1957B}" type="datetimeFigureOut">
              <a:rPr lang="ko-KR" altLang="en-US" smtClean="0"/>
              <a:t>2023-11-27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4F9D-2D7A-40B7-A6BB-BC8377DF3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651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C74FC-5781-498C-82CB-AE3465D1957B}" type="datetimeFigureOut">
              <a:rPr lang="ko-KR" altLang="en-US" smtClean="0"/>
              <a:t>2023-11-27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54F9D-2D7A-40B7-A6BB-BC8377DF3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10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C74FC-5781-498C-82CB-AE3465D1957B}" type="datetimeFigureOut">
              <a:rPr lang="ko-KR" altLang="en-US" smtClean="0"/>
              <a:t>2023-11-27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54F9D-2D7A-40B7-A6BB-BC8377DF3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0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041"/>
            <a:ext cx="12192000" cy="689398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0" y="3747983"/>
            <a:ext cx="12192000" cy="3108960"/>
          </a:xfrm>
          <a:prstGeom prst="rect">
            <a:avLst/>
          </a:prstGeom>
        </p:spPr>
      </p:pic>
      <p:sp>
        <p:nvSpPr>
          <p:cNvPr id="9" name="Rectangle 32"/>
          <p:cNvSpPr>
            <a:spLocks noChangeArrowheads="1"/>
          </p:cNvSpPr>
          <p:nvPr/>
        </p:nvSpPr>
        <p:spPr bwMode="auto">
          <a:xfrm>
            <a:off x="1128746" y="1055473"/>
            <a:ext cx="9934508" cy="2893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88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AY Tech Global</a:t>
            </a:r>
          </a:p>
          <a:p>
            <a:pPr algn="ctr">
              <a:lnSpc>
                <a:spcPct val="150000"/>
              </a:lnSpc>
            </a:pPr>
            <a:r>
              <a:rPr lang="en-US" altLang="ko-KR" sz="3733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company profile / </a:t>
            </a:r>
            <a:r>
              <a:rPr lang="zh-CN" altLang="en-US" sz="3733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公司简介</a:t>
            </a:r>
            <a:endParaRPr lang="en-US" altLang="ko-KR" sz="3733" b="1" dirty="0">
              <a:solidFill>
                <a:schemeClr val="bg1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16" name="Rectangle 32"/>
          <p:cNvSpPr>
            <a:spLocks noChangeArrowheads="1"/>
          </p:cNvSpPr>
          <p:nvPr/>
        </p:nvSpPr>
        <p:spPr bwMode="auto">
          <a:xfrm>
            <a:off x="70051" y="5207692"/>
            <a:ext cx="6098368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err="1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에이와이텍</a:t>
            </a:r>
            <a:r>
              <a:rPr lang="ko-KR" altLang="en-US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 글로벌 주식회사</a:t>
            </a:r>
            <a:endParaRPr lang="en-US" altLang="ko-KR" sz="1200" b="1" dirty="0" smtClean="0">
              <a:solidFill>
                <a:schemeClr val="bg1"/>
              </a:solidFill>
              <a:latin typeface="Arial" pitchFamily="34" charset="0"/>
              <a:ea typeface="+mj-ea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한국</a:t>
            </a:r>
            <a:r>
              <a:rPr lang="en-US" altLang="ko-KR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(</a:t>
            </a:r>
            <a:r>
              <a:rPr lang="ko-KR" altLang="en-US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본사</a:t>
            </a:r>
            <a:r>
              <a:rPr lang="en-US" altLang="ko-KR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)</a:t>
            </a:r>
            <a:r>
              <a:rPr lang="ko-KR" altLang="en-US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altLang="ko-KR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: </a:t>
            </a:r>
            <a:r>
              <a:rPr lang="ko-KR" altLang="en-US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부산시 금정구 부산대학로 </a:t>
            </a:r>
            <a:r>
              <a:rPr lang="en-US" altLang="ko-KR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50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번길</a:t>
            </a:r>
            <a:r>
              <a:rPr lang="ko-KR" altLang="en-US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altLang="ko-KR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68, AVEC401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China(</a:t>
            </a:r>
            <a:r>
              <a:rPr lang="ko-KR" altLang="en-US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지사</a:t>
            </a:r>
            <a:r>
              <a:rPr lang="en-US" altLang="ko-KR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)</a:t>
            </a:r>
            <a:r>
              <a:rPr lang="ko-KR" altLang="en-US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 </a:t>
            </a:r>
            <a:r>
              <a:rPr lang="en-US" altLang="ko-KR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: (</a:t>
            </a:r>
            <a:r>
              <a:rPr lang="ko-KR" altLang="en-US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상하이</a:t>
            </a:r>
            <a:r>
              <a:rPr lang="en-US" altLang="ko-KR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)no22, </a:t>
            </a:r>
            <a:r>
              <a:rPr lang="en-US" altLang="ko-KR" sz="1200" b="1" dirty="0" err="1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Yanandong</a:t>
            </a:r>
            <a:r>
              <a:rPr lang="en-US" altLang="ko-KR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 Ro, Huangpu Dis, Shanghai, China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                       (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웨이하이</a:t>
            </a:r>
            <a:r>
              <a:rPr lang="en-US" altLang="ko-KR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)</a:t>
            </a:r>
            <a:r>
              <a:rPr lang="en-US" altLang="ko-KR" sz="1200" b="1" dirty="0" err="1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Dongshanbei</a:t>
            </a:r>
            <a:r>
              <a:rPr lang="en-US" altLang="ko-KR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 Ro, </a:t>
            </a:r>
            <a:r>
              <a:rPr lang="en-US" altLang="ko-KR" sz="1200" b="1" dirty="0" err="1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Huancui</a:t>
            </a:r>
            <a:r>
              <a:rPr lang="en-US" altLang="ko-KR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 Dis, </a:t>
            </a:r>
            <a:r>
              <a:rPr lang="en-US" altLang="ko-KR" sz="1200" b="1" dirty="0" err="1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Weihai</a:t>
            </a:r>
            <a:r>
              <a:rPr lang="en-US" altLang="ko-KR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, Shandong, China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Mail : astchina@naver.com 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대표 </a:t>
            </a:r>
            <a:r>
              <a:rPr lang="en-US" altLang="ko-KR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: </a:t>
            </a:r>
            <a:r>
              <a:rPr lang="ko-KR" altLang="en-US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안한철 </a:t>
            </a:r>
            <a:r>
              <a:rPr lang="en-US" altLang="ko-KR" sz="12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/ 010 4571 1003</a:t>
            </a:r>
            <a:endParaRPr lang="ko-KR" altLang="en-US" sz="1200" b="1" dirty="0">
              <a:solidFill>
                <a:schemeClr val="bg1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27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-144693" y="354120"/>
            <a:ext cx="703493" cy="448059"/>
          </a:xfrm>
          <a:prstGeom prst="roundRect">
            <a:avLst>
              <a:gd name="adj" fmla="val 10999"/>
            </a:avLst>
          </a:prstGeom>
          <a:solidFill>
            <a:srgbClr val="E440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zh-CN" altLang="en-US" sz="6400">
              <a:solidFill>
                <a:prstClr val="white"/>
              </a:solidFill>
              <a:latin typeface="Arial" pitchFamily="34" charset="0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48789" y="354120"/>
            <a:ext cx="113211" cy="448059"/>
          </a:xfrm>
          <a:prstGeom prst="roundRect">
            <a:avLst>
              <a:gd name="adj" fmla="val 27884"/>
            </a:avLst>
          </a:prstGeom>
          <a:solidFill>
            <a:srgbClr val="E440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zh-CN" altLang="en-US" sz="6400">
              <a:solidFill>
                <a:prstClr val="white"/>
              </a:solidFill>
              <a:latin typeface="Arial" pitchFamily="34" charset="0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8129" y="35412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ko-KR" altLang="en-US" sz="24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회사개요</a:t>
            </a:r>
            <a:endParaRPr lang="en-US" altLang="zh-CN" sz="2400" b="1" dirty="0">
              <a:solidFill>
                <a:prstClr val="black">
                  <a:lumMod val="75000"/>
                  <a:lumOff val="25000"/>
                </a:prst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文本框 1">
            <a:extLst>
              <a:ext uri="{FF2B5EF4-FFF2-40B4-BE49-F238E27FC236}">
                <a16:creationId xmlns="" xmlns:a16="http://schemas.microsoft.com/office/drawing/2014/main" id="{8BA4F9CB-5A27-4955-A76F-7A5B1F282AF9}"/>
              </a:ext>
            </a:extLst>
          </p:cNvPr>
          <p:cNvSpPr txBox="1"/>
          <p:nvPr/>
        </p:nvSpPr>
        <p:spPr>
          <a:xfrm>
            <a:off x="558800" y="1005039"/>
            <a:ext cx="5692913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ts val="2667"/>
              </a:lnSpc>
            </a:pP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 Tech Global 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본사는 </a:t>
            </a:r>
            <a:r>
              <a:rPr lang="ko-KR" altLang="en-US" sz="1600" u="sng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한국 부산에 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위치하고 있으며</a:t>
            </a: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latinLnBrk="0">
              <a:lnSpc>
                <a:spcPts val="2667"/>
              </a:lnSpc>
            </a:pP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2667"/>
              </a:lnSpc>
            </a:pP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중국 자회사는 상하이 </a:t>
            </a: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ko-KR" altLang="en-US" sz="1600" dirty="0" err="1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웨이하이에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위치하고 있으며</a:t>
            </a: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2667"/>
              </a:lnSpc>
            </a:pP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회사명은</a:t>
            </a: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2667"/>
              </a:lnSpc>
            </a:pP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安</a:t>
            </a:r>
            <a:r>
              <a:rPr lang="zh-CN" alt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世通国际贸易有限公</a:t>
            </a: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司</a:t>
            </a:r>
            <a:r>
              <a:rPr lang="en-US" altLang="zh-CN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sz="1600" dirty="0" smtClean="0"/>
              <a:t>AST </a:t>
            </a:r>
            <a:r>
              <a:rPr lang="en-US" altLang="ko-KR" sz="1600" dirty="0"/>
              <a:t>International Trading </a:t>
            </a:r>
            <a:r>
              <a:rPr lang="en-US" altLang="ko-KR" sz="1600" dirty="0" err="1"/>
              <a:t>C</a:t>
            </a:r>
            <a:r>
              <a:rPr lang="en-US" altLang="ko-KR" sz="1600" dirty="0" err="1" smtClean="0"/>
              <a:t>o.,</a:t>
            </a:r>
            <a:r>
              <a:rPr lang="en-US" altLang="ko-KR" sz="1600" dirty="0" err="1"/>
              <a:t>L</a:t>
            </a:r>
            <a:r>
              <a:rPr lang="en-US" altLang="ko-KR" sz="1600" dirty="0" err="1" smtClean="0"/>
              <a:t>td</a:t>
            </a:r>
            <a:r>
              <a:rPr lang="en-US" altLang="ko-KR" sz="1600" dirty="0" smtClean="0"/>
              <a:t>)</a:t>
            </a: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2667"/>
              </a:lnSpc>
            </a:pP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2667"/>
              </a:lnSpc>
            </a:pP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2667"/>
              </a:lnSpc>
            </a:pP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회사명은 내용</a:t>
            </a: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2667"/>
              </a:lnSpc>
            </a:pP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2667"/>
              </a:lnSpc>
            </a:pP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安</a:t>
            </a:r>
            <a:r>
              <a:rPr lang="en-US" altLang="zh-CN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 : 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안전하게</a:t>
            </a: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2667"/>
              </a:lnSpc>
            </a:pP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世</a:t>
            </a:r>
            <a:r>
              <a:rPr lang="en-US" altLang="zh-CN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S)</a:t>
            </a: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세계로</a:t>
            </a: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2667"/>
              </a:lnSpc>
            </a:pP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通</a:t>
            </a:r>
            <a:r>
              <a:rPr lang="en-US" altLang="zh-CN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(T)</a:t>
            </a: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통한다</a:t>
            </a: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2667"/>
              </a:lnSpc>
            </a:pP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2667"/>
              </a:lnSpc>
            </a:pP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한국</a:t>
            </a: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중국</a:t>
            </a:r>
            <a:r>
              <a:rPr lang="ko-KR" alt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을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로 전세계로 뻗어 나아가자는 의미</a:t>
            </a: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文本框 1">
            <a:extLst>
              <a:ext uri="{FF2B5EF4-FFF2-40B4-BE49-F238E27FC236}">
                <a16:creationId xmlns="" xmlns:a16="http://schemas.microsoft.com/office/drawing/2014/main" id="{8BA4F9CB-5A27-4955-A76F-7A5B1F282AF9}"/>
              </a:ext>
            </a:extLst>
          </p:cNvPr>
          <p:cNvSpPr txBox="1"/>
          <p:nvPr/>
        </p:nvSpPr>
        <p:spPr>
          <a:xfrm>
            <a:off x="6912634" y="1012514"/>
            <a:ext cx="5093836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ts val="2667"/>
              </a:lnSpc>
            </a:pPr>
            <a:r>
              <a:rPr lang="ko-KR" altLang="en-US" sz="1600" b="1" u="sng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기업 개요</a:t>
            </a:r>
            <a:endParaRPr lang="en-US" altLang="ko-KR" sz="1600" b="1" u="sng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2667"/>
              </a:lnSpc>
            </a:pP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2013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년 </a:t>
            </a: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월 한국</a:t>
            </a: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AST </a:t>
            </a:r>
            <a:r>
              <a:rPr lang="en-US" altLang="ko-KR" sz="1600" dirty="0" err="1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설립</a:t>
            </a: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2667"/>
              </a:lnSpc>
            </a:pP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2015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년 </a:t>
            </a: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월 중국법인 설립 </a:t>
            </a:r>
            <a:endParaRPr lang="en-US" altLang="ko-KR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2667"/>
              </a:lnSpc>
            </a:pP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2018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년 </a:t>
            </a: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월 상해지사 설립</a:t>
            </a: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2667"/>
              </a:lnSpc>
            </a:pP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2020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년 </a:t>
            </a: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월 한국법인</a:t>
            </a: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(AY Tech) 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설립 </a:t>
            </a: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558" y="3625044"/>
            <a:ext cx="1815175" cy="1679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549" y="4144616"/>
            <a:ext cx="1878665" cy="64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文本框 1">
            <a:extLst>
              <a:ext uri="{FF2B5EF4-FFF2-40B4-BE49-F238E27FC236}">
                <a16:creationId xmlns="" xmlns:a16="http://schemas.microsoft.com/office/drawing/2014/main" id="{8BA4F9CB-5A27-4955-A76F-7A5B1F282AF9}"/>
              </a:ext>
            </a:extLst>
          </p:cNvPr>
          <p:cNvSpPr txBox="1"/>
          <p:nvPr/>
        </p:nvSpPr>
        <p:spPr>
          <a:xfrm>
            <a:off x="6901059" y="3007308"/>
            <a:ext cx="5093836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ts val="2667"/>
              </a:lnSpc>
            </a:pPr>
            <a:r>
              <a:rPr lang="ko-KR" altLang="en-US" sz="1600" b="1" u="sng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사업 분야</a:t>
            </a:r>
            <a:endParaRPr lang="en-US" altLang="ko-KR" sz="1600" b="1" u="sng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latinLnBrk="0">
              <a:lnSpc>
                <a:spcPts val="2667"/>
              </a:lnSpc>
              <a:buFont typeface="Arial" charset="0"/>
              <a:buChar char="•"/>
            </a:pPr>
            <a:r>
              <a:rPr lang="en-US" altLang="ko-KR" sz="16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ko-KR" altLang="en-US" sz="1600" b="1" dirty="0" err="1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차전지</a:t>
            </a:r>
            <a:r>
              <a:rPr lang="ko-KR" altLang="en-US" sz="16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분야의 설비</a:t>
            </a:r>
            <a:r>
              <a:rPr lang="en-US" altLang="ko-KR" sz="16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6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원료</a:t>
            </a:r>
            <a:r>
              <a:rPr lang="en-US" altLang="ko-KR" sz="16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6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각종 중간재</a:t>
            </a:r>
            <a:r>
              <a:rPr lang="en-US" altLang="ko-KR" sz="16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16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부품</a:t>
            </a:r>
            <a:r>
              <a:rPr lang="en-US" altLang="ko-KR" sz="16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ko-KR" altLang="en-US" sz="16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등  </a:t>
            </a:r>
            <a:endParaRPr lang="en-US" altLang="ko-KR" sz="1600" b="1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0">
              <a:lnSpc>
                <a:spcPts val="2667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ko-KR" altLang="en-US" sz="16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수입</a:t>
            </a:r>
            <a:r>
              <a:rPr lang="en-US" altLang="ko-KR" sz="16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sz="16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판매</a:t>
            </a:r>
            <a:endParaRPr lang="en-US" altLang="ko-KR" sz="1600" b="1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latinLnBrk="0">
              <a:lnSpc>
                <a:spcPts val="2667"/>
              </a:lnSpc>
              <a:buFont typeface="Arial" charset="0"/>
              <a:buChar char="•"/>
            </a:pP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해외 수</a:t>
            </a: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출입 대행</a:t>
            </a: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latinLnBrk="0">
              <a:lnSpc>
                <a:spcPts val="2667"/>
              </a:lnSpc>
              <a:buFont typeface="Arial" charset="0"/>
              <a:buChar char="•"/>
            </a:pP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구매대행</a:t>
            </a:r>
            <a:r>
              <a:rPr lang="en-US" altLang="ko-KR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및 시장조사</a:t>
            </a: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latinLnBrk="0">
              <a:lnSpc>
                <a:spcPts val="2667"/>
              </a:lnSpc>
              <a:buFont typeface="Arial" charset="0"/>
              <a:buChar char="•"/>
            </a:pP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중국 및 동남아 내수 유통</a:t>
            </a: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latinLnBrk="0">
              <a:lnSpc>
                <a:spcPts val="2667"/>
              </a:lnSpc>
              <a:buFont typeface="Arial" charset="0"/>
              <a:buChar char="•"/>
            </a:pP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중국</a:t>
            </a:r>
            <a:r>
              <a:rPr lang="zh-CN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内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법인설립 및 컨설팅 자문</a:t>
            </a: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latinLnBrk="0">
              <a:lnSpc>
                <a:spcPts val="2667"/>
              </a:lnSpc>
              <a:buFont typeface="Arial" charset="0"/>
              <a:buChar char="•"/>
            </a:pP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한</a:t>
            </a: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중 기업 </a:t>
            </a: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</a:t>
            </a:r>
            <a:r>
              <a:rPr lang="ko-KR" altLang="en-US" sz="1600" dirty="0" err="1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매칭</a:t>
            </a: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latinLnBrk="0">
              <a:lnSpc>
                <a:spcPts val="2667"/>
              </a:lnSpc>
              <a:buFont typeface="Arial" charset="0"/>
              <a:buChar char="•"/>
            </a:pP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한</a:t>
            </a: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중 기술이전 및 </a:t>
            </a: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M&amp;A</a:t>
            </a:r>
          </a:p>
          <a:p>
            <a:pPr marL="285750" indent="-285750" latinLnBrk="0">
              <a:lnSpc>
                <a:spcPts val="2667"/>
              </a:lnSpc>
              <a:buFont typeface="Arial" charset="0"/>
              <a:buChar char="•"/>
            </a:pP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한</a:t>
            </a:r>
            <a:r>
              <a:rPr lang="en-US" altLang="ko-KR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16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중 투자유치 등</a:t>
            </a:r>
            <a:endParaRPr lang="en-US" altLang="ko-KR" sz="16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24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536" y="1734753"/>
            <a:ext cx="3858081" cy="1141196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238" y="2034610"/>
            <a:ext cx="5429156" cy="1605910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242" y="0"/>
            <a:ext cx="5978292" cy="1768341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9" y="3407989"/>
            <a:ext cx="3137400" cy="928023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45" y="115783"/>
            <a:ext cx="4492381" cy="1328818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642" y="3878890"/>
            <a:ext cx="5134348" cy="15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854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-144693" y="354120"/>
            <a:ext cx="703493" cy="448059"/>
          </a:xfrm>
          <a:prstGeom prst="roundRect">
            <a:avLst>
              <a:gd name="adj" fmla="val 10999"/>
            </a:avLst>
          </a:prstGeom>
          <a:solidFill>
            <a:srgbClr val="E440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zh-CN" altLang="en-US" sz="6400">
              <a:solidFill>
                <a:prstClr val="white"/>
              </a:solidFill>
              <a:latin typeface="Arial" pitchFamily="34" charset="0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48789" y="354120"/>
            <a:ext cx="113211" cy="448059"/>
          </a:xfrm>
          <a:prstGeom prst="roundRect">
            <a:avLst>
              <a:gd name="adj" fmla="val 27884"/>
            </a:avLst>
          </a:prstGeom>
          <a:solidFill>
            <a:srgbClr val="E440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zh-CN" altLang="en-US" sz="6400">
              <a:solidFill>
                <a:prstClr val="white"/>
              </a:solidFill>
              <a:latin typeface="Arial" pitchFamily="34" charset="0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8129" y="35412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ko-KR" altLang="en-US" sz="24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주요업</a:t>
            </a:r>
            <a:r>
              <a: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적</a:t>
            </a:r>
            <a:endParaRPr lang="en-US" altLang="zh-CN" sz="2400" b="1" dirty="0">
              <a:solidFill>
                <a:prstClr val="black">
                  <a:lumMod val="75000"/>
                  <a:lumOff val="25000"/>
                </a:prst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文本框 1">
            <a:extLst>
              <a:ext uri="{FF2B5EF4-FFF2-40B4-BE49-F238E27FC236}">
                <a16:creationId xmlns="" xmlns:a16="http://schemas.microsoft.com/office/drawing/2014/main" id="{8BA4F9CB-5A27-4955-A76F-7A5B1F282AF9}"/>
              </a:ext>
            </a:extLst>
          </p:cNvPr>
          <p:cNvSpPr txBox="1"/>
          <p:nvPr/>
        </p:nvSpPr>
        <p:spPr>
          <a:xfrm>
            <a:off x="705395" y="1135801"/>
            <a:ext cx="1148660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ko-KR" altLang="en-US" sz="1600" dirty="0">
                <a:latin typeface="+mn-ea"/>
              </a:rPr>
              <a:t>現 </a:t>
            </a:r>
            <a:r>
              <a:rPr lang="ko-KR" altLang="en-US" sz="1600" dirty="0" smtClean="0">
                <a:latin typeface="+mn-ea"/>
              </a:rPr>
              <a:t>부산대 기술지주</a:t>
            </a:r>
            <a:r>
              <a:rPr lang="en-US" altLang="ko-KR" sz="1600" dirty="0" smtClean="0">
                <a:latin typeface="+mn-ea"/>
              </a:rPr>
              <a:t>/</a:t>
            </a:r>
            <a:r>
              <a:rPr lang="ko-KR" altLang="en-US" sz="1600" dirty="0" err="1" smtClean="0">
                <a:latin typeface="+mn-ea"/>
              </a:rPr>
              <a:t>산학협력단</a:t>
            </a:r>
            <a:r>
              <a:rPr lang="ko-KR" altLang="en-US" sz="1600" dirty="0" smtClean="0">
                <a:latin typeface="+mn-ea"/>
              </a:rPr>
              <a:t> 중국 및 기타국가 수</a:t>
            </a:r>
            <a:r>
              <a:rPr lang="en-US" altLang="ko-KR" sz="1600" dirty="0" smtClean="0">
                <a:latin typeface="+mn-ea"/>
              </a:rPr>
              <a:t>/</a:t>
            </a:r>
            <a:r>
              <a:rPr lang="ko-KR" altLang="en-US" sz="1600" dirty="0" smtClean="0">
                <a:latin typeface="+mn-ea"/>
              </a:rPr>
              <a:t>출입 자문위원</a:t>
            </a:r>
            <a:endParaRPr lang="en-US" altLang="ko-KR" sz="1600" dirty="0" smtClean="0">
              <a:latin typeface="+mn-ea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ko-KR" altLang="en-US" sz="1600" dirty="0" smtClean="0">
                <a:latin typeface="+mn-ea"/>
              </a:rPr>
              <a:t>現 부산대 기술지주 자회사 포</a:t>
            </a:r>
            <a:r>
              <a:rPr lang="en-US" altLang="ko-KR" sz="1600" dirty="0" smtClean="0">
                <a:latin typeface="+mn-ea"/>
              </a:rPr>
              <a:t>000 2</a:t>
            </a:r>
            <a:r>
              <a:rPr lang="ko-KR" altLang="en-US" sz="1600" dirty="0" smtClean="0">
                <a:latin typeface="+mn-ea"/>
              </a:rPr>
              <a:t>차 전지 전해액 첨가제 관련 협업 </a:t>
            </a:r>
            <a:r>
              <a:rPr lang="ko-KR" altLang="en-US" sz="1600" dirty="0" err="1" smtClean="0">
                <a:latin typeface="+mn-ea"/>
              </a:rPr>
              <a:t>진행중</a:t>
            </a:r>
            <a:endParaRPr lang="en-US" altLang="ko-KR" sz="1600" dirty="0" smtClean="0">
              <a:latin typeface="+mn-ea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ko-KR" altLang="en-US" sz="1600" dirty="0">
                <a:latin typeface="+mn-ea"/>
              </a:rPr>
              <a:t>現 </a:t>
            </a:r>
            <a:r>
              <a:rPr lang="ko-KR" altLang="en-US" sz="1600" dirty="0" smtClean="0">
                <a:latin typeface="+mn-ea"/>
              </a:rPr>
              <a:t>부산대 기술지주 자회사 소</a:t>
            </a:r>
            <a:r>
              <a:rPr lang="en-US" altLang="ko-KR" sz="1600" dirty="0" smtClean="0">
                <a:latin typeface="+mn-ea"/>
              </a:rPr>
              <a:t>00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개발 </a:t>
            </a:r>
            <a:r>
              <a:rPr lang="en-US" altLang="ko-KR" sz="1600" dirty="0">
                <a:latin typeface="+mn-ea"/>
              </a:rPr>
              <a:t>MOF</a:t>
            </a:r>
            <a:r>
              <a:rPr lang="ko-KR" altLang="en-US" sz="1600" dirty="0">
                <a:latin typeface="+mn-ea"/>
              </a:rPr>
              <a:t>기술 </a:t>
            </a:r>
            <a:r>
              <a:rPr lang="ko-KR" altLang="en-US" sz="1600" dirty="0" smtClean="0">
                <a:latin typeface="+mn-ea"/>
              </a:rPr>
              <a:t>중국 </a:t>
            </a:r>
            <a:r>
              <a:rPr lang="ko-KR" altLang="en-US" sz="1600" dirty="0" err="1" smtClean="0">
                <a:latin typeface="+mn-ea"/>
              </a:rPr>
              <a:t>협력사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협업 </a:t>
            </a:r>
            <a:r>
              <a:rPr lang="ko-KR" altLang="en-US" sz="1600" dirty="0" err="1" smtClean="0">
                <a:latin typeface="+mn-ea"/>
              </a:rPr>
              <a:t>진행중</a:t>
            </a:r>
            <a:endParaRPr lang="en-US" altLang="ko-KR" sz="1600" dirty="0" smtClean="0">
              <a:latin typeface="+mn-ea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ko-KR" altLang="en-US" sz="1600" dirty="0">
                <a:latin typeface="+mn-ea"/>
              </a:rPr>
              <a:t>前 </a:t>
            </a:r>
            <a:r>
              <a:rPr lang="ko-KR" altLang="en-US" sz="1600" dirty="0" err="1" smtClean="0">
                <a:latin typeface="+mn-ea"/>
              </a:rPr>
              <a:t>상장사</a:t>
            </a:r>
            <a:r>
              <a:rPr lang="ko-KR" altLang="en-US" sz="1600" dirty="0" smtClean="0">
                <a:latin typeface="+mn-ea"/>
              </a:rPr>
              <a:t> 엔</a:t>
            </a:r>
            <a:r>
              <a:rPr lang="en-US" altLang="ko-KR" sz="1600" dirty="0" smtClean="0">
                <a:latin typeface="+mn-ea"/>
              </a:rPr>
              <a:t>00 </a:t>
            </a:r>
            <a:r>
              <a:rPr lang="ko-KR" altLang="en-US" sz="1600" dirty="0" smtClean="0">
                <a:latin typeface="+mn-ea"/>
              </a:rPr>
              <a:t>투자 유치 및 중국현지 공장 </a:t>
            </a:r>
            <a:r>
              <a:rPr lang="ko-KR" altLang="en-US" sz="1600" dirty="0" err="1" smtClean="0">
                <a:latin typeface="+mn-ea"/>
              </a:rPr>
              <a:t>세팅</a:t>
            </a:r>
            <a:endParaRPr lang="en-US" altLang="ko-KR" sz="1600" dirty="0" smtClean="0">
              <a:latin typeface="+mn-ea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altLang="ko-KR" sz="1600" dirty="0">
              <a:latin typeface="+mn-ea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ko-KR" altLang="en-US" sz="1600" dirty="0">
                <a:latin typeface="+mn-ea"/>
              </a:rPr>
              <a:t>前 </a:t>
            </a:r>
            <a:r>
              <a:rPr lang="ko-KR" altLang="en-US" sz="1600" dirty="0" smtClean="0">
                <a:latin typeface="+mn-ea"/>
              </a:rPr>
              <a:t>경기도 소재 삼</a:t>
            </a:r>
            <a:r>
              <a:rPr lang="en-US" altLang="ko-KR" sz="1600" dirty="0" smtClean="0">
                <a:latin typeface="+mn-ea"/>
              </a:rPr>
              <a:t>00 </a:t>
            </a:r>
            <a:r>
              <a:rPr lang="ko-KR" altLang="en-US" sz="1600" dirty="0" smtClean="0">
                <a:latin typeface="+mn-ea"/>
              </a:rPr>
              <a:t>생산라인 설비</a:t>
            </a:r>
            <a:r>
              <a:rPr lang="en-US" altLang="ko-KR" sz="1600" dirty="0" smtClean="0">
                <a:latin typeface="+mn-ea"/>
              </a:rPr>
              <a:t>/</a:t>
            </a:r>
            <a:r>
              <a:rPr lang="ko-KR" altLang="en-US" sz="1600" dirty="0" err="1" smtClean="0">
                <a:latin typeface="+mn-ea"/>
              </a:rPr>
              <a:t>세팅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en-US" altLang="ko-KR" sz="1600" dirty="0" smtClean="0">
                <a:latin typeface="+mn-ea"/>
              </a:rPr>
              <a:t>– 150</a:t>
            </a:r>
            <a:r>
              <a:rPr lang="ko-KR" altLang="en-US" sz="1600" dirty="0" smtClean="0">
                <a:latin typeface="+mn-ea"/>
              </a:rPr>
              <a:t>억</a:t>
            </a:r>
            <a:endParaRPr lang="en-US" altLang="ko-KR" sz="1600" dirty="0">
              <a:latin typeface="+mn-ea"/>
            </a:endParaRPr>
          </a:p>
          <a:p>
            <a:endParaRPr lang="en-US" altLang="ko-KR" sz="1600" dirty="0" smtClean="0">
              <a:latin typeface="+mn-ea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ko-KR" altLang="en-US" sz="1600" dirty="0">
                <a:latin typeface="+mn-ea"/>
              </a:rPr>
              <a:t>前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ko-KR" sz="1600" dirty="0" smtClean="0">
                <a:latin typeface="+mn-ea"/>
              </a:rPr>
              <a:t>부산차이나 </a:t>
            </a:r>
            <a:r>
              <a:rPr lang="ko-KR" altLang="ko-KR" sz="1600" dirty="0">
                <a:latin typeface="+mn-ea"/>
              </a:rPr>
              <a:t>비즈니스 포럼 </a:t>
            </a:r>
            <a:r>
              <a:rPr lang="en-US" altLang="ko-KR" sz="1600" dirty="0">
                <a:latin typeface="+mn-ea"/>
              </a:rPr>
              <a:t>&amp; </a:t>
            </a:r>
            <a:r>
              <a:rPr lang="ko-KR" altLang="ko-KR" sz="1600" dirty="0" err="1">
                <a:latin typeface="+mn-ea"/>
              </a:rPr>
              <a:t>웨이하이</a:t>
            </a:r>
            <a:r>
              <a:rPr lang="ko-KR" altLang="ko-KR" sz="1600" dirty="0">
                <a:latin typeface="+mn-ea"/>
              </a:rPr>
              <a:t> 한국상품협회 </a:t>
            </a:r>
            <a:r>
              <a:rPr lang="ko-KR" altLang="ko-KR" sz="1600" dirty="0" err="1">
                <a:latin typeface="+mn-ea"/>
              </a:rPr>
              <a:t>상담회</a:t>
            </a:r>
            <a:r>
              <a:rPr lang="ko-KR" altLang="ko-KR" sz="1600" dirty="0">
                <a:latin typeface="+mn-ea"/>
              </a:rPr>
              <a:t> 개최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ko-KR" sz="1600" dirty="0" err="1">
                <a:latin typeface="+mn-ea"/>
              </a:rPr>
              <a:t>웨이하이</a:t>
            </a:r>
            <a:r>
              <a:rPr lang="en-US" altLang="ko-KR" sz="1600" dirty="0" smtClean="0">
                <a:latin typeface="+mn-ea"/>
              </a:rPr>
              <a:t>)</a:t>
            </a:r>
          </a:p>
          <a:p>
            <a:pPr marL="342900" indent="-342900">
              <a:buFont typeface="Arial" pitchFamily="34" charset="0"/>
              <a:buChar char="•"/>
            </a:pPr>
            <a:endParaRPr lang="ko-KR" altLang="ko-KR" sz="1600" dirty="0">
              <a:latin typeface="+mn-ea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ko-KR" altLang="en-US" sz="1600" dirty="0" smtClean="0">
                <a:latin typeface="+mn-ea"/>
              </a:rPr>
              <a:t>前 </a:t>
            </a:r>
            <a:r>
              <a:rPr lang="ko-KR" altLang="ko-KR" sz="1600" dirty="0" err="1" smtClean="0">
                <a:latin typeface="+mn-ea"/>
              </a:rPr>
              <a:t>절강성</a:t>
            </a:r>
            <a:r>
              <a:rPr lang="ko-KR" altLang="ko-KR" sz="1600" dirty="0" smtClean="0">
                <a:latin typeface="+mn-ea"/>
              </a:rPr>
              <a:t> </a:t>
            </a:r>
            <a:r>
              <a:rPr lang="ko-KR" altLang="ko-KR" sz="1600" dirty="0">
                <a:latin typeface="+mn-ea"/>
              </a:rPr>
              <a:t>한국상품협회 소속 기업체</a:t>
            </a:r>
            <a:r>
              <a:rPr lang="en-US" altLang="ko-KR" sz="1600" dirty="0">
                <a:latin typeface="+mn-ea"/>
              </a:rPr>
              <a:t> &amp; </a:t>
            </a:r>
            <a:r>
              <a:rPr lang="ko-KR" altLang="ko-KR" sz="1600" dirty="0">
                <a:latin typeface="+mn-ea"/>
              </a:rPr>
              <a:t>부산대 </a:t>
            </a:r>
            <a:r>
              <a:rPr lang="ko-KR" altLang="ko-KR" sz="1600" dirty="0" err="1">
                <a:latin typeface="+mn-ea"/>
              </a:rPr>
              <a:t>산학협력단</a:t>
            </a:r>
            <a:r>
              <a:rPr lang="ko-KR" altLang="ko-KR" sz="1600" dirty="0">
                <a:latin typeface="+mn-ea"/>
              </a:rPr>
              <a:t> 초청기업 및 부산경남 우수기업 </a:t>
            </a:r>
            <a:r>
              <a:rPr lang="ko-KR" altLang="ko-KR" sz="1600" dirty="0" err="1">
                <a:latin typeface="+mn-ea"/>
              </a:rPr>
              <a:t>상담회</a:t>
            </a:r>
            <a:r>
              <a:rPr lang="ko-KR" altLang="ko-KR" sz="1600" dirty="0">
                <a:latin typeface="+mn-ea"/>
              </a:rPr>
              <a:t> 개최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ko-KR" sz="1600" dirty="0">
                <a:latin typeface="+mn-ea"/>
              </a:rPr>
              <a:t>부산</a:t>
            </a:r>
            <a:r>
              <a:rPr lang="en-US" altLang="ko-KR" sz="1600" dirty="0">
                <a:latin typeface="+mn-ea"/>
              </a:rPr>
              <a:t>)</a:t>
            </a:r>
            <a:endParaRPr lang="ko-KR" altLang="ko-KR" sz="1600" dirty="0">
              <a:latin typeface="+mn-ea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altLang="ko-KR" sz="1600" dirty="0" smtClean="0">
              <a:latin typeface="+mn-ea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ko-KR" altLang="en-US" sz="1600" dirty="0">
                <a:latin typeface="+mn-ea"/>
              </a:rPr>
              <a:t>前 </a:t>
            </a:r>
            <a:r>
              <a:rPr lang="ko-KR" altLang="ko-KR" sz="1600" dirty="0" err="1" smtClean="0">
                <a:latin typeface="+mn-ea"/>
              </a:rPr>
              <a:t>심천시</a:t>
            </a:r>
            <a:r>
              <a:rPr lang="ko-KR" altLang="ko-KR" sz="1600" dirty="0" smtClean="0">
                <a:latin typeface="+mn-ea"/>
              </a:rPr>
              <a:t> </a:t>
            </a:r>
            <a:r>
              <a:rPr lang="ko-KR" altLang="ko-KR" sz="1600" dirty="0">
                <a:latin typeface="+mn-ea"/>
              </a:rPr>
              <a:t>과학기술협회 소속 기업체 </a:t>
            </a:r>
            <a:r>
              <a:rPr lang="en-US" altLang="ko-KR" sz="1600" dirty="0">
                <a:latin typeface="+mn-ea"/>
              </a:rPr>
              <a:t>&amp; </a:t>
            </a:r>
            <a:r>
              <a:rPr lang="ko-KR" altLang="ko-KR" sz="1600" dirty="0">
                <a:latin typeface="+mn-ea"/>
              </a:rPr>
              <a:t>대전 경제 진흥원 기업 </a:t>
            </a:r>
            <a:r>
              <a:rPr lang="ko-KR" altLang="ko-KR" sz="1600" dirty="0" err="1">
                <a:latin typeface="+mn-ea"/>
              </a:rPr>
              <a:t>상담회</a:t>
            </a:r>
            <a:r>
              <a:rPr lang="ko-KR" altLang="ko-KR" sz="1600" dirty="0">
                <a:latin typeface="+mn-ea"/>
              </a:rPr>
              <a:t> 지원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ko-KR" sz="1600" dirty="0">
                <a:latin typeface="+mn-ea"/>
              </a:rPr>
              <a:t>대전</a:t>
            </a:r>
            <a:r>
              <a:rPr lang="en-US" altLang="ko-KR" sz="1600" dirty="0">
                <a:latin typeface="+mn-ea"/>
              </a:rPr>
              <a:t>)</a:t>
            </a:r>
            <a:endParaRPr lang="ko-KR" altLang="ko-KR" sz="1600" dirty="0">
              <a:latin typeface="+mn-ea"/>
            </a:endParaRPr>
          </a:p>
          <a:p>
            <a:pPr marL="342900" indent="-342900">
              <a:buFont typeface="Arial" pitchFamily="34" charset="0"/>
              <a:buChar char="•"/>
            </a:pPr>
            <a:endParaRPr lang="ko-KR" altLang="ko-KR" sz="1600" dirty="0">
              <a:latin typeface="+mn-ea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ko-KR" altLang="en-US" sz="1600" dirty="0">
                <a:latin typeface="+mn-ea"/>
              </a:rPr>
              <a:t>前 </a:t>
            </a:r>
            <a:r>
              <a:rPr lang="ko-KR" altLang="ko-KR" sz="1600" dirty="0" err="1" smtClean="0">
                <a:latin typeface="+mn-ea"/>
              </a:rPr>
              <a:t>가가열</a:t>
            </a:r>
            <a:r>
              <a:rPr lang="ko-KR" altLang="ko-KR" sz="1600" dirty="0" smtClean="0">
                <a:latin typeface="+mn-ea"/>
              </a:rPr>
              <a:t> </a:t>
            </a:r>
            <a:r>
              <a:rPr lang="ko-KR" altLang="ko-KR" sz="1600" dirty="0" err="1">
                <a:latin typeface="+mn-ea"/>
              </a:rPr>
              <a:t>산동성</a:t>
            </a:r>
            <a:r>
              <a:rPr lang="ko-KR" altLang="ko-KR" sz="1600" dirty="0">
                <a:latin typeface="+mn-ea"/>
              </a:rPr>
              <a:t> 최대 </a:t>
            </a:r>
            <a:r>
              <a:rPr lang="ko-KR" altLang="ko-KR" sz="1600" dirty="0" err="1">
                <a:latin typeface="+mn-ea"/>
              </a:rPr>
              <a:t>프렌차이즈</a:t>
            </a:r>
            <a:r>
              <a:rPr lang="ko-KR" altLang="ko-KR" sz="1600" dirty="0">
                <a:latin typeface="+mn-ea"/>
              </a:rPr>
              <a:t> 마켓</a:t>
            </a:r>
            <a:r>
              <a:rPr lang="en-US" altLang="ko-KR" sz="1600" dirty="0">
                <a:latin typeface="+mn-ea"/>
              </a:rPr>
              <a:t>(650</a:t>
            </a:r>
            <a:r>
              <a:rPr lang="ko-KR" altLang="ko-KR" sz="1600" dirty="0" err="1">
                <a:latin typeface="+mn-ea"/>
              </a:rPr>
              <a:t>여개</a:t>
            </a:r>
            <a:r>
              <a:rPr lang="ko-KR" altLang="ko-KR" sz="1600" dirty="0">
                <a:latin typeface="+mn-ea"/>
              </a:rPr>
              <a:t> </a:t>
            </a:r>
            <a:r>
              <a:rPr lang="ko-KR" altLang="ko-KR" sz="1600" dirty="0" err="1">
                <a:latin typeface="+mn-ea"/>
              </a:rPr>
              <a:t>마트</a:t>
            </a:r>
            <a:r>
              <a:rPr lang="en-US" altLang="ko-KR" sz="1600" dirty="0">
                <a:latin typeface="+mn-ea"/>
              </a:rPr>
              <a:t>) </a:t>
            </a:r>
            <a:r>
              <a:rPr lang="ko-KR" altLang="ko-KR" sz="1600" dirty="0">
                <a:latin typeface="+mn-ea"/>
              </a:rPr>
              <a:t>한국제품 등 </a:t>
            </a:r>
            <a:r>
              <a:rPr lang="ko-KR" altLang="ko-KR" sz="1600" dirty="0" smtClean="0">
                <a:latin typeface="+mn-ea"/>
              </a:rPr>
              <a:t>공급</a:t>
            </a:r>
            <a:endParaRPr lang="ko-KR" altLang="ko-KR" sz="1600" dirty="0">
              <a:latin typeface="+mn-ea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US" altLang="ko-KR" sz="1600" dirty="0" smtClean="0">
              <a:latin typeface="+mn-ea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ko-KR" altLang="en-US" sz="1600" dirty="0">
                <a:latin typeface="+mn-ea"/>
              </a:rPr>
              <a:t>前 </a:t>
            </a:r>
            <a:r>
              <a:rPr lang="ko-KR" altLang="ko-KR" sz="1600" dirty="0" err="1" smtClean="0">
                <a:latin typeface="+mn-ea"/>
              </a:rPr>
              <a:t>아</a:t>
            </a:r>
            <a:r>
              <a:rPr lang="ko-KR" altLang="en-US" sz="1600" dirty="0" err="1">
                <a:latin typeface="+mn-ea"/>
              </a:rPr>
              <a:t>난</a:t>
            </a:r>
            <a:r>
              <a:rPr lang="en-US" altLang="ko-KR" sz="1600" dirty="0" smtClean="0">
                <a:latin typeface="+mn-ea"/>
              </a:rPr>
              <a:t>0 </a:t>
            </a:r>
            <a:r>
              <a:rPr lang="ko-KR" altLang="en-US" sz="1600" dirty="0" err="1" smtClean="0">
                <a:latin typeface="+mn-ea"/>
              </a:rPr>
              <a:t>리조트</a:t>
            </a:r>
            <a:r>
              <a:rPr lang="ko-KR" altLang="en-US" sz="1600" dirty="0" smtClean="0">
                <a:latin typeface="+mn-ea"/>
              </a:rPr>
              <a:t> 투자유치</a:t>
            </a:r>
            <a:r>
              <a:rPr lang="en-US" altLang="ko-KR" sz="1600" dirty="0" smtClean="0">
                <a:latin typeface="+mn-ea"/>
              </a:rPr>
              <a:t>(1800</a:t>
            </a:r>
            <a:r>
              <a:rPr lang="ko-KR" altLang="en-US" sz="1600" dirty="0" smtClean="0">
                <a:latin typeface="+mn-ea"/>
              </a:rPr>
              <a:t>억</a:t>
            </a:r>
            <a:r>
              <a:rPr lang="en-US" altLang="ko-KR" sz="1600" dirty="0" smtClean="0">
                <a:latin typeface="+mn-ea"/>
              </a:rPr>
              <a:t>)</a:t>
            </a:r>
            <a:r>
              <a:rPr lang="ko-KR" altLang="ko-KR" sz="1600" dirty="0" smtClean="0">
                <a:latin typeface="+mn-ea"/>
              </a:rPr>
              <a:t> </a:t>
            </a:r>
            <a:r>
              <a:rPr lang="en-US" altLang="ko-KR" sz="1600" dirty="0" smtClean="0">
                <a:latin typeface="+mn-ea"/>
              </a:rPr>
              <a:t>/ </a:t>
            </a:r>
            <a:r>
              <a:rPr lang="ko-KR" altLang="en-US" sz="1600" dirty="0" smtClean="0">
                <a:latin typeface="+mn-ea"/>
              </a:rPr>
              <a:t>호텔</a:t>
            </a:r>
            <a:r>
              <a:rPr lang="en-US" altLang="ko-KR" sz="1600" dirty="0" smtClean="0">
                <a:latin typeface="+mn-ea"/>
              </a:rPr>
              <a:t>, </a:t>
            </a:r>
            <a:r>
              <a:rPr lang="ko-KR" altLang="en-US" sz="1600" dirty="0" err="1" smtClean="0">
                <a:latin typeface="+mn-ea"/>
              </a:rPr>
              <a:t>리조트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ko-KR" sz="1600" dirty="0" smtClean="0">
                <a:latin typeface="+mn-ea"/>
              </a:rPr>
              <a:t>용품 </a:t>
            </a:r>
            <a:r>
              <a:rPr lang="ko-KR" altLang="ko-KR" sz="1600" dirty="0">
                <a:latin typeface="+mn-ea"/>
              </a:rPr>
              <a:t>공급</a:t>
            </a:r>
          </a:p>
          <a:p>
            <a:pPr marL="342900" indent="-342900">
              <a:buFont typeface="Arial" pitchFamily="34" charset="0"/>
              <a:buChar char="•"/>
            </a:pPr>
            <a:endParaRPr lang="en-US" altLang="ko-KR" sz="1600" dirty="0" smtClean="0">
              <a:latin typeface="+mn-ea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ko-KR" altLang="ko-KR" sz="1600" dirty="0" smtClean="0">
                <a:latin typeface="+mn-ea"/>
              </a:rPr>
              <a:t>그 </a:t>
            </a:r>
            <a:r>
              <a:rPr lang="ko-KR" altLang="ko-KR" sz="1600" dirty="0">
                <a:latin typeface="+mn-ea"/>
              </a:rPr>
              <a:t>외 다수 </a:t>
            </a:r>
            <a:r>
              <a:rPr lang="ko-KR" altLang="ko-KR" sz="1600" dirty="0" smtClean="0">
                <a:latin typeface="+mn-ea"/>
              </a:rPr>
              <a:t>한</a:t>
            </a:r>
            <a:r>
              <a:rPr lang="en-US" altLang="ko-KR" sz="1600" dirty="0" smtClean="0">
                <a:latin typeface="+mn-ea"/>
              </a:rPr>
              <a:t>/</a:t>
            </a:r>
            <a:r>
              <a:rPr lang="ko-KR" altLang="en-US" sz="1600" dirty="0" smtClean="0">
                <a:latin typeface="+mn-ea"/>
              </a:rPr>
              <a:t>중</a:t>
            </a:r>
            <a:r>
              <a:rPr lang="en-US" altLang="ko-KR" sz="1600" dirty="0" smtClean="0">
                <a:latin typeface="+mn-ea"/>
              </a:rPr>
              <a:t> </a:t>
            </a:r>
            <a:r>
              <a:rPr lang="ko-KR" altLang="ko-KR" sz="1600" dirty="0" smtClean="0">
                <a:latin typeface="+mn-ea"/>
              </a:rPr>
              <a:t>제품</a:t>
            </a:r>
            <a:r>
              <a:rPr lang="en-US" altLang="ko-KR" sz="1600" dirty="0" smtClean="0">
                <a:latin typeface="+mn-ea"/>
              </a:rPr>
              <a:t>/</a:t>
            </a:r>
            <a:r>
              <a:rPr lang="ko-KR" altLang="en-US" sz="1600" dirty="0" smtClean="0">
                <a:latin typeface="+mn-ea"/>
              </a:rPr>
              <a:t>설비</a:t>
            </a:r>
            <a:r>
              <a:rPr lang="en-US" altLang="ko-KR" sz="1600" dirty="0" smtClean="0">
                <a:latin typeface="+mn-ea"/>
              </a:rPr>
              <a:t>/</a:t>
            </a:r>
            <a:r>
              <a:rPr lang="ko-KR" altLang="en-US" sz="1600" dirty="0" smtClean="0">
                <a:latin typeface="+mn-ea"/>
              </a:rPr>
              <a:t>기술</a:t>
            </a:r>
            <a:r>
              <a:rPr lang="ko-KR" altLang="ko-KR" sz="1600" dirty="0" smtClean="0">
                <a:latin typeface="+mn-ea"/>
              </a:rPr>
              <a:t> </a:t>
            </a:r>
            <a:r>
              <a:rPr lang="ko-KR" altLang="ko-KR" sz="1600" dirty="0">
                <a:latin typeface="+mn-ea"/>
              </a:rPr>
              <a:t>등 </a:t>
            </a:r>
            <a:r>
              <a:rPr lang="ko-KR" altLang="en-US" sz="1600" dirty="0" smtClean="0">
                <a:latin typeface="+mn-ea"/>
              </a:rPr>
              <a:t>양국기업과</a:t>
            </a:r>
            <a:r>
              <a:rPr lang="ko-KR" altLang="ko-KR" sz="1600" dirty="0" smtClean="0">
                <a:latin typeface="+mn-ea"/>
              </a:rPr>
              <a:t> </a:t>
            </a:r>
            <a:r>
              <a:rPr lang="ko-KR" altLang="ko-KR" sz="1600" dirty="0" err="1">
                <a:latin typeface="+mn-ea"/>
              </a:rPr>
              <a:t>거래중</a:t>
            </a:r>
            <a:endParaRPr lang="ko-KR" altLang="ko-KR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0729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-144693" y="354120"/>
            <a:ext cx="703493" cy="448059"/>
          </a:xfrm>
          <a:prstGeom prst="roundRect">
            <a:avLst>
              <a:gd name="adj" fmla="val 10999"/>
            </a:avLst>
          </a:prstGeom>
          <a:solidFill>
            <a:srgbClr val="E440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zh-CN" altLang="en-US" sz="6400">
              <a:solidFill>
                <a:prstClr val="white"/>
              </a:solidFill>
              <a:latin typeface="Arial" pitchFamily="34" charset="0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48789" y="354120"/>
            <a:ext cx="113211" cy="448059"/>
          </a:xfrm>
          <a:prstGeom prst="roundRect">
            <a:avLst>
              <a:gd name="adj" fmla="val 27884"/>
            </a:avLst>
          </a:prstGeom>
          <a:solidFill>
            <a:srgbClr val="E440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zh-CN" altLang="en-US" sz="6400">
              <a:solidFill>
                <a:prstClr val="white"/>
              </a:solidFill>
              <a:latin typeface="Arial" pitchFamily="34" charset="0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8129" y="354121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ko-KR" altLang="en-US" sz="24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공급가능 제품</a:t>
            </a:r>
            <a:endParaRPr lang="en-US" altLang="zh-CN" sz="2400" b="1" dirty="0">
              <a:solidFill>
                <a:prstClr val="black">
                  <a:lumMod val="75000"/>
                  <a:lumOff val="25000"/>
                </a:prst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90833" y="932106"/>
            <a:ext cx="1172116" cy="4041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>
              <a:lnSpc>
                <a:spcPts val="2667"/>
              </a:lnSpc>
            </a:pPr>
            <a:r>
              <a:rPr lang="ko-KR" altLang="en-US" b="1" u="sng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기계</a:t>
            </a:r>
            <a:r>
              <a:rPr lang="en-US" altLang="ko-KR" b="1" u="sng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b="1" u="sng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설비</a:t>
            </a:r>
            <a:endParaRPr lang="en-US" altLang="ko-KR" b="1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479839" y="1041435"/>
            <a:ext cx="2082621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>
              <a:lnSpc>
                <a:spcPts val="2667"/>
              </a:lnSpc>
            </a:pPr>
            <a:r>
              <a:rPr lang="ko-KR" altLang="en-US" b="1" u="sng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각종 중간재</a:t>
            </a:r>
            <a:r>
              <a:rPr lang="en-US" altLang="ko-KR" b="1" u="sng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ko-KR" altLang="en-US" b="1" u="sng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부품</a:t>
            </a:r>
            <a:r>
              <a:rPr lang="en-US" altLang="ko-KR" b="1" u="sng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ko-KR" b="1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80" y="2800948"/>
            <a:ext cx="2018974" cy="1069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6850" y="2574874"/>
            <a:ext cx="920142" cy="1271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935" y="2505011"/>
            <a:ext cx="1352956" cy="1079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987" y="3637405"/>
            <a:ext cx="1182852" cy="14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60316" y="1361326"/>
            <a:ext cx="503664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ko-KR" sz="1400" b="1" dirty="0" err="1" smtClean="0">
                <a:solidFill>
                  <a:srgbClr val="0070C0"/>
                </a:solidFill>
              </a:rPr>
              <a:t>Acidproof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 Pump(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내산</a:t>
            </a:r>
            <a:r>
              <a:rPr lang="en-US" altLang="ko-KR" sz="1400" b="1" dirty="0">
                <a:solidFill>
                  <a:srgbClr val="0070C0"/>
                </a:solidFill>
              </a:rPr>
              <a:t> 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펌프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sz="1400" b="1" dirty="0" err="1">
                <a:solidFill>
                  <a:srgbClr val="0070C0"/>
                </a:solidFill>
              </a:rPr>
              <a:t>Horizontal.Vertical</a:t>
            </a:r>
            <a:r>
              <a:rPr lang="en-US" altLang="ko-KR" sz="1400" b="1" dirty="0">
                <a:solidFill>
                  <a:srgbClr val="0070C0"/>
                </a:solidFill>
              </a:rPr>
              <a:t> Filter 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Press(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수직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.</a:t>
            </a:r>
            <a:r>
              <a:rPr lang="ko-KR" altLang="en-US" sz="1400" b="1" dirty="0" err="1" smtClean="0">
                <a:solidFill>
                  <a:srgbClr val="0070C0"/>
                </a:solidFill>
              </a:rPr>
              <a:t>수평형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 필터프레스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sz="1400" b="1" dirty="0" smtClean="0">
                <a:solidFill>
                  <a:srgbClr val="0070C0"/>
                </a:solidFill>
              </a:rPr>
              <a:t>Roll Mill(</a:t>
            </a:r>
            <a:r>
              <a:rPr lang="ko-KR" altLang="en-US" sz="1400" b="1" dirty="0" err="1" smtClean="0">
                <a:solidFill>
                  <a:srgbClr val="0070C0"/>
                </a:solidFill>
              </a:rPr>
              <a:t>롤밀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, Roll Crusher)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sz="1400" b="1" dirty="0" smtClean="0">
                <a:solidFill>
                  <a:srgbClr val="0070C0"/>
                </a:solidFill>
              </a:rPr>
              <a:t>Cut Mill(</a:t>
            </a:r>
            <a:r>
              <a:rPr lang="ko-KR" altLang="en-US" sz="1400" b="1" dirty="0" err="1" smtClean="0">
                <a:solidFill>
                  <a:srgbClr val="0070C0"/>
                </a:solidFill>
              </a:rPr>
              <a:t>컷밀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, Jaw Crusher)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sz="1400" b="1" dirty="0">
                <a:solidFill>
                  <a:srgbClr val="0070C0"/>
                </a:solidFill>
              </a:rPr>
              <a:t>Ribbon 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Mixer(</a:t>
            </a:r>
            <a:r>
              <a:rPr lang="ko-KR" altLang="en-US" sz="1400" b="1" dirty="0" err="1" smtClean="0">
                <a:solidFill>
                  <a:srgbClr val="0070C0"/>
                </a:solidFill>
              </a:rPr>
              <a:t>리본믹셔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)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79839" y="1495280"/>
            <a:ext cx="275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ko-KR" sz="1400" b="1" dirty="0" smtClean="0">
                <a:solidFill>
                  <a:srgbClr val="0070C0"/>
                </a:solidFill>
              </a:rPr>
              <a:t>Graphite Crucible(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도가니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sz="1400" b="1" dirty="0" err="1">
                <a:solidFill>
                  <a:srgbClr val="0070C0"/>
                </a:solidFill>
              </a:rPr>
              <a:t>Sagger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(</a:t>
            </a:r>
            <a:r>
              <a:rPr lang="ko-KR" altLang="en-US" sz="1400" b="1" dirty="0" err="1" smtClean="0">
                <a:solidFill>
                  <a:srgbClr val="0070C0"/>
                </a:solidFill>
              </a:rPr>
              <a:t>소성물을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 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담는 용기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)</a:t>
            </a:r>
            <a:endParaRPr lang="ko-KR" altLang="en-US" sz="1400" b="1" dirty="0">
              <a:solidFill>
                <a:srgbClr val="0070C0"/>
              </a:solidFill>
            </a:endParaRPr>
          </a:p>
        </p:txBody>
      </p:sp>
      <p:pic>
        <p:nvPicPr>
          <p:cNvPr id="30" name="Picture 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6294736" y="2538620"/>
            <a:ext cx="1412912" cy="90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1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648" y="2351618"/>
            <a:ext cx="883577" cy="1274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897" y="2351618"/>
            <a:ext cx="1830910" cy="1007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1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869" y="2351618"/>
            <a:ext cx="934668" cy="1168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015" y="3708424"/>
            <a:ext cx="3011934" cy="1922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5665" y="3927097"/>
            <a:ext cx="1255890" cy="1406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505" y="5377087"/>
            <a:ext cx="1850434" cy="118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TextBox 37"/>
          <p:cNvSpPr txBox="1"/>
          <p:nvPr/>
        </p:nvSpPr>
        <p:spPr>
          <a:xfrm>
            <a:off x="4247999" y="5029216"/>
            <a:ext cx="1785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0070C0"/>
                </a:solidFill>
              </a:rPr>
              <a:t>[</a:t>
            </a:r>
            <a:r>
              <a:rPr lang="ko-KR" altLang="en-US" sz="1200" b="1" dirty="0" err="1" smtClean="0">
                <a:solidFill>
                  <a:srgbClr val="0070C0"/>
                </a:solidFill>
              </a:rPr>
              <a:t>수직형</a:t>
            </a:r>
            <a:r>
              <a:rPr lang="en-US" altLang="ko-KR" sz="1200" b="1" dirty="0">
                <a:solidFill>
                  <a:srgbClr val="0070C0"/>
                </a:solidFill>
              </a:rPr>
              <a:t> </a:t>
            </a:r>
            <a:r>
              <a:rPr lang="ko-KR" altLang="en-US" sz="1200" b="1" dirty="0" smtClean="0">
                <a:solidFill>
                  <a:srgbClr val="0070C0"/>
                </a:solidFill>
              </a:rPr>
              <a:t>필터프레스</a:t>
            </a:r>
            <a:r>
              <a:rPr lang="en-US" altLang="ko-KR" sz="1200" b="1" dirty="0" smtClean="0">
                <a:solidFill>
                  <a:srgbClr val="0070C0"/>
                </a:solidFill>
              </a:rPr>
              <a:t>]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16712" y="6578535"/>
            <a:ext cx="1785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0070C0"/>
                </a:solidFill>
              </a:rPr>
              <a:t>[</a:t>
            </a:r>
            <a:r>
              <a:rPr lang="ko-KR" altLang="en-US" sz="1200" b="1" dirty="0" err="1" smtClean="0">
                <a:solidFill>
                  <a:srgbClr val="0070C0"/>
                </a:solidFill>
              </a:rPr>
              <a:t>수</a:t>
            </a:r>
            <a:r>
              <a:rPr lang="ko-KR" altLang="en-US" sz="1200" b="1" dirty="0" err="1">
                <a:solidFill>
                  <a:srgbClr val="0070C0"/>
                </a:solidFill>
              </a:rPr>
              <a:t>평</a:t>
            </a:r>
            <a:r>
              <a:rPr lang="ko-KR" altLang="en-US" sz="1200" b="1" dirty="0" err="1" smtClean="0">
                <a:solidFill>
                  <a:srgbClr val="0070C0"/>
                </a:solidFill>
              </a:rPr>
              <a:t>형</a:t>
            </a:r>
            <a:r>
              <a:rPr lang="en-US" altLang="ko-KR" sz="1200" b="1" dirty="0" smtClean="0">
                <a:solidFill>
                  <a:srgbClr val="0070C0"/>
                </a:solidFill>
              </a:rPr>
              <a:t> </a:t>
            </a:r>
            <a:r>
              <a:rPr lang="ko-KR" altLang="en-US" sz="1200" b="1" dirty="0" smtClean="0">
                <a:solidFill>
                  <a:srgbClr val="0070C0"/>
                </a:solidFill>
              </a:rPr>
              <a:t>필터프레스</a:t>
            </a:r>
            <a:r>
              <a:rPr lang="en-US" altLang="ko-KR" sz="1200" b="1" dirty="0" smtClean="0">
                <a:solidFill>
                  <a:srgbClr val="0070C0"/>
                </a:solidFill>
              </a:rPr>
              <a:t>]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33745" y="3800590"/>
            <a:ext cx="1785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0070C0"/>
                </a:solidFill>
              </a:rPr>
              <a:t>[</a:t>
            </a:r>
            <a:r>
              <a:rPr lang="ko-KR" altLang="en-US" sz="1200" b="1" dirty="0" smtClean="0">
                <a:solidFill>
                  <a:srgbClr val="0070C0"/>
                </a:solidFill>
              </a:rPr>
              <a:t>내산</a:t>
            </a:r>
            <a:r>
              <a:rPr lang="en-US" altLang="ko-KR" sz="1200" b="1" dirty="0" smtClean="0">
                <a:solidFill>
                  <a:srgbClr val="0070C0"/>
                </a:solidFill>
              </a:rPr>
              <a:t>.</a:t>
            </a:r>
            <a:r>
              <a:rPr lang="ko-KR" altLang="en-US" sz="1200" b="1" dirty="0" smtClean="0">
                <a:solidFill>
                  <a:srgbClr val="0070C0"/>
                </a:solidFill>
              </a:rPr>
              <a:t>일반 펌프</a:t>
            </a:r>
            <a:r>
              <a:rPr lang="en-US" altLang="ko-KR" sz="1200" b="1" dirty="0" smtClean="0">
                <a:solidFill>
                  <a:srgbClr val="0070C0"/>
                </a:solidFill>
              </a:rPr>
              <a:t>]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77813" y="5749978"/>
            <a:ext cx="1785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smtClean="0">
                <a:solidFill>
                  <a:srgbClr val="0070C0"/>
                </a:solidFill>
              </a:rPr>
              <a:t>[</a:t>
            </a:r>
            <a:r>
              <a:rPr lang="ko-KR" altLang="en-US" sz="1200" b="1" dirty="0" smtClean="0">
                <a:solidFill>
                  <a:srgbClr val="0070C0"/>
                </a:solidFill>
              </a:rPr>
              <a:t>도가니</a:t>
            </a:r>
            <a:r>
              <a:rPr lang="en-US" altLang="ko-KR" sz="1200" b="1" dirty="0" smtClean="0">
                <a:solidFill>
                  <a:srgbClr val="0070C0"/>
                </a:solidFill>
              </a:rPr>
              <a:t>]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994133" y="5455718"/>
            <a:ext cx="8925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0070C0"/>
                </a:solidFill>
              </a:rPr>
              <a:t>[</a:t>
            </a:r>
            <a:r>
              <a:rPr lang="ko-KR" altLang="en-US" sz="1200" b="1" dirty="0" smtClean="0">
                <a:solidFill>
                  <a:srgbClr val="0070C0"/>
                </a:solidFill>
              </a:rPr>
              <a:t>소성용기</a:t>
            </a:r>
            <a:r>
              <a:rPr lang="en-US" altLang="ko-KR" sz="1200" b="1" dirty="0" smtClean="0">
                <a:solidFill>
                  <a:srgbClr val="0070C0"/>
                </a:solidFill>
              </a:rPr>
              <a:t>]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57" y="4143175"/>
            <a:ext cx="1407529" cy="1221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TextBox 43"/>
          <p:cNvSpPr txBox="1"/>
          <p:nvPr/>
        </p:nvSpPr>
        <p:spPr>
          <a:xfrm>
            <a:off x="1433648" y="5126563"/>
            <a:ext cx="6808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0070C0"/>
                </a:solidFill>
              </a:rPr>
              <a:t>[</a:t>
            </a:r>
            <a:r>
              <a:rPr lang="ko-KR" altLang="en-US" sz="1200" b="1" dirty="0" err="1" smtClean="0">
                <a:solidFill>
                  <a:srgbClr val="0070C0"/>
                </a:solidFill>
              </a:rPr>
              <a:t>롤밀</a:t>
            </a:r>
            <a:r>
              <a:rPr lang="en-US" altLang="ko-KR" sz="1200" b="1" dirty="0" smtClean="0">
                <a:solidFill>
                  <a:srgbClr val="0070C0"/>
                </a:solidFill>
              </a:rPr>
              <a:t>]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014" y="4158322"/>
            <a:ext cx="1858479" cy="1117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8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" y="5562586"/>
            <a:ext cx="1736602" cy="978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" name="TextBox 46"/>
          <p:cNvSpPr txBox="1"/>
          <p:nvPr/>
        </p:nvSpPr>
        <p:spPr>
          <a:xfrm>
            <a:off x="764331" y="6528542"/>
            <a:ext cx="1372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0070C0"/>
                </a:solidFill>
              </a:rPr>
              <a:t>[</a:t>
            </a:r>
            <a:r>
              <a:rPr lang="ko-KR" altLang="en-US" sz="1200" b="1" dirty="0" err="1" smtClean="0">
                <a:solidFill>
                  <a:srgbClr val="0070C0"/>
                </a:solidFill>
              </a:rPr>
              <a:t>조크러셔</a:t>
            </a:r>
            <a:r>
              <a:rPr lang="en-US" altLang="ko-KR" sz="1200" b="1" dirty="0" smtClean="0">
                <a:solidFill>
                  <a:srgbClr val="0070C0"/>
                </a:solidFill>
              </a:rPr>
              <a:t>]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pic>
        <p:nvPicPr>
          <p:cNvPr id="20" name="Picture 9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5034" y="5533937"/>
            <a:ext cx="1710923" cy="991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TextBox 48"/>
          <p:cNvSpPr txBox="1"/>
          <p:nvPr/>
        </p:nvSpPr>
        <p:spPr>
          <a:xfrm>
            <a:off x="2635408" y="6524995"/>
            <a:ext cx="1372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0070C0"/>
                </a:solidFill>
              </a:rPr>
              <a:t>[</a:t>
            </a:r>
            <a:r>
              <a:rPr lang="ko-KR" altLang="en-US" sz="1200" b="1" dirty="0" smtClean="0">
                <a:solidFill>
                  <a:srgbClr val="0070C0"/>
                </a:solidFill>
              </a:rPr>
              <a:t>리본 </a:t>
            </a:r>
            <a:r>
              <a:rPr lang="ko-KR" altLang="en-US" sz="1200" b="1" dirty="0" err="1" smtClean="0">
                <a:solidFill>
                  <a:srgbClr val="0070C0"/>
                </a:solidFill>
              </a:rPr>
              <a:t>믹셔</a:t>
            </a:r>
            <a:r>
              <a:rPr lang="en-US" altLang="ko-KR" sz="1200" b="1" dirty="0" smtClean="0">
                <a:solidFill>
                  <a:srgbClr val="0070C0"/>
                </a:solidFill>
              </a:rPr>
              <a:t>]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573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-144693" y="354120"/>
            <a:ext cx="703493" cy="448059"/>
          </a:xfrm>
          <a:prstGeom prst="roundRect">
            <a:avLst>
              <a:gd name="adj" fmla="val 10999"/>
            </a:avLst>
          </a:prstGeom>
          <a:solidFill>
            <a:srgbClr val="E440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zh-CN" altLang="en-US" sz="6400">
              <a:solidFill>
                <a:prstClr val="white"/>
              </a:solidFill>
              <a:latin typeface="Arial" pitchFamily="34" charset="0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48789" y="354120"/>
            <a:ext cx="113211" cy="448059"/>
          </a:xfrm>
          <a:prstGeom prst="roundRect">
            <a:avLst>
              <a:gd name="adj" fmla="val 27884"/>
            </a:avLst>
          </a:prstGeom>
          <a:solidFill>
            <a:srgbClr val="E440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zh-CN" altLang="en-US" sz="6400">
              <a:solidFill>
                <a:prstClr val="white"/>
              </a:solidFill>
              <a:latin typeface="Arial" pitchFamily="34" charset="0"/>
              <a:ea typeface="华文细黑" panose="02010600040101010101" pitchFamily="2" charset="-122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8129" y="354121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0"/>
            <a:r>
              <a:rPr lang="ko-KR" altLang="en-US" sz="24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공급가능 제품</a:t>
            </a:r>
            <a:endParaRPr lang="en-US" altLang="zh-CN" sz="2400" b="1" dirty="0">
              <a:solidFill>
                <a:prstClr val="black">
                  <a:lumMod val="75000"/>
                  <a:lumOff val="25000"/>
                </a:prst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57280" y="1148768"/>
            <a:ext cx="1300356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>
              <a:lnSpc>
                <a:spcPts val="2667"/>
              </a:lnSpc>
            </a:pPr>
            <a:r>
              <a:rPr lang="ko-KR" altLang="en-US" b="1" u="sng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원료 </a:t>
            </a:r>
            <a:r>
              <a:rPr lang="en-US" altLang="ko-KR" b="1" u="sng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ko-KR" altLang="en-US" b="1" u="sng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제약</a:t>
            </a:r>
            <a:endParaRPr lang="en-US" altLang="ko-KR" b="1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479839" y="1379361"/>
            <a:ext cx="1402948" cy="4041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>
              <a:lnSpc>
                <a:spcPts val="2667"/>
              </a:lnSpc>
            </a:pPr>
            <a:r>
              <a:rPr lang="ko-KR" altLang="en-US" b="1" u="sng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각종 소비재</a:t>
            </a:r>
            <a:endParaRPr lang="en-US" altLang="ko-KR" b="1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839" y="2010172"/>
            <a:ext cx="5189024" cy="263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TextBox 26"/>
          <p:cNvSpPr txBox="1"/>
          <p:nvPr/>
        </p:nvSpPr>
        <p:spPr>
          <a:xfrm>
            <a:off x="857267" y="1510411"/>
            <a:ext cx="27506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ko-KR" sz="1400" b="1" dirty="0" smtClean="0">
                <a:solidFill>
                  <a:srgbClr val="0070C0"/>
                </a:solidFill>
              </a:rPr>
              <a:t>Silicon Metal(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실리콘메탈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sz="1400" b="1" dirty="0" smtClean="0">
                <a:solidFill>
                  <a:srgbClr val="0070C0"/>
                </a:solidFill>
              </a:rPr>
              <a:t>Ferrosilicon(</a:t>
            </a:r>
            <a:r>
              <a:rPr lang="ko-KR" altLang="en-US" sz="1400" b="1" dirty="0" err="1" smtClean="0">
                <a:solidFill>
                  <a:srgbClr val="0070C0"/>
                </a:solidFill>
              </a:rPr>
              <a:t>페로실리콘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sz="1400" b="1" dirty="0" err="1" smtClean="0">
                <a:solidFill>
                  <a:srgbClr val="0070C0"/>
                </a:solidFill>
              </a:rPr>
              <a:t>MgO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 Powder(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산화마그네슘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sz="1400" b="1" dirty="0" smtClean="0">
                <a:solidFill>
                  <a:srgbClr val="0070C0"/>
                </a:solidFill>
              </a:rPr>
              <a:t>Nickel </a:t>
            </a:r>
            <a:r>
              <a:rPr lang="en-US" altLang="ko-KR" sz="1400" b="1" dirty="0">
                <a:solidFill>
                  <a:srgbClr val="0070C0"/>
                </a:solidFill>
              </a:rPr>
              <a:t>S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ulfate(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황산 니켈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sz="1400" b="1" dirty="0" smtClean="0">
                <a:solidFill>
                  <a:srgbClr val="0070C0"/>
                </a:solidFill>
              </a:rPr>
              <a:t>Pet Coke(</a:t>
            </a:r>
            <a:r>
              <a:rPr lang="ko-KR" altLang="en-US" sz="1400" b="1" dirty="0" err="1" smtClean="0">
                <a:solidFill>
                  <a:srgbClr val="0070C0"/>
                </a:solidFill>
              </a:rPr>
              <a:t>페트</a:t>
            </a:r>
            <a:r>
              <a:rPr lang="ko-KR" altLang="en-US" sz="1400" b="1" dirty="0" smtClean="0">
                <a:solidFill>
                  <a:srgbClr val="0070C0"/>
                </a:solidFill>
              </a:rPr>
              <a:t> </a:t>
            </a:r>
            <a:r>
              <a:rPr lang="ko-KR" altLang="en-US" sz="1400" b="1" dirty="0">
                <a:solidFill>
                  <a:srgbClr val="0070C0"/>
                </a:solidFill>
              </a:rPr>
              <a:t>코크스</a:t>
            </a:r>
            <a:r>
              <a:rPr lang="en-US" altLang="ko-KR" sz="1400" b="1" dirty="0" smtClean="0">
                <a:solidFill>
                  <a:srgbClr val="0070C0"/>
                </a:solidFill>
              </a:rPr>
              <a:t>)</a:t>
            </a:r>
          </a:p>
          <a:p>
            <a:pPr marL="285750" indent="-285750">
              <a:buFont typeface="Arial" pitchFamily="34" charset="0"/>
              <a:buChar char="•"/>
            </a:pPr>
            <a:endParaRPr lang="ko-KR" altLang="en-US" sz="1400" b="1" dirty="0">
              <a:solidFill>
                <a:srgbClr val="0070C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218" y="5368942"/>
            <a:ext cx="1711401" cy="1222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720190" y="5870827"/>
            <a:ext cx="1387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0070C0"/>
                </a:solidFill>
              </a:rPr>
              <a:t>[</a:t>
            </a:r>
            <a:r>
              <a:rPr lang="ko-KR" altLang="en-US" sz="1200" b="1" dirty="0" err="1" smtClean="0">
                <a:solidFill>
                  <a:srgbClr val="0070C0"/>
                </a:solidFill>
              </a:rPr>
              <a:t>페트</a:t>
            </a:r>
            <a:r>
              <a:rPr lang="en-US" altLang="ko-KR" sz="1200" b="1" dirty="0" smtClean="0">
                <a:solidFill>
                  <a:srgbClr val="0070C0"/>
                </a:solidFill>
              </a:rPr>
              <a:t> </a:t>
            </a:r>
            <a:r>
              <a:rPr lang="ko-KR" altLang="en-US" sz="1200" b="1" dirty="0" smtClean="0">
                <a:solidFill>
                  <a:srgbClr val="0070C0"/>
                </a:solidFill>
              </a:rPr>
              <a:t>코크스</a:t>
            </a:r>
            <a:r>
              <a:rPr lang="en-US" altLang="ko-KR" sz="1200" b="1" dirty="0" smtClean="0">
                <a:solidFill>
                  <a:srgbClr val="0070C0"/>
                </a:solidFill>
              </a:rPr>
              <a:t>]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29" y="2693989"/>
            <a:ext cx="1718539" cy="1023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TextBox 31"/>
          <p:cNvSpPr txBox="1"/>
          <p:nvPr/>
        </p:nvSpPr>
        <p:spPr>
          <a:xfrm>
            <a:off x="1133675" y="3745758"/>
            <a:ext cx="1387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0070C0"/>
                </a:solidFill>
              </a:rPr>
              <a:t>[</a:t>
            </a:r>
            <a:r>
              <a:rPr lang="ko-KR" altLang="en-US" sz="1200" b="1" dirty="0" smtClean="0">
                <a:solidFill>
                  <a:srgbClr val="0070C0"/>
                </a:solidFill>
              </a:rPr>
              <a:t>실리콘 메탈</a:t>
            </a:r>
            <a:r>
              <a:rPr lang="en-US" altLang="ko-KR" sz="1200" b="1" dirty="0" smtClean="0">
                <a:solidFill>
                  <a:srgbClr val="0070C0"/>
                </a:solidFill>
              </a:rPr>
              <a:t>]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151" y="2693990"/>
            <a:ext cx="1673858" cy="1023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3461357" y="3745758"/>
            <a:ext cx="1387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0070C0"/>
                </a:solidFill>
              </a:rPr>
              <a:t>[</a:t>
            </a:r>
            <a:r>
              <a:rPr lang="ko-KR" altLang="en-US" sz="1200" b="1" dirty="0" err="1" smtClean="0">
                <a:solidFill>
                  <a:srgbClr val="0070C0"/>
                </a:solidFill>
              </a:rPr>
              <a:t>페로실리콘</a:t>
            </a:r>
            <a:r>
              <a:rPr lang="en-US" altLang="ko-KR" sz="1200" b="1" dirty="0" smtClean="0">
                <a:solidFill>
                  <a:srgbClr val="0070C0"/>
                </a:solidFill>
              </a:rPr>
              <a:t>]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822" y="4022757"/>
            <a:ext cx="1760845" cy="923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" name="TextBox 35"/>
          <p:cNvSpPr txBox="1"/>
          <p:nvPr/>
        </p:nvSpPr>
        <p:spPr>
          <a:xfrm>
            <a:off x="1112521" y="4982614"/>
            <a:ext cx="1387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0070C0"/>
                </a:solidFill>
              </a:rPr>
              <a:t>[</a:t>
            </a:r>
            <a:r>
              <a:rPr lang="ko-KR" altLang="en-US" sz="1200" b="1" dirty="0" smtClean="0">
                <a:solidFill>
                  <a:srgbClr val="0070C0"/>
                </a:solidFill>
              </a:rPr>
              <a:t>산화마그네슘</a:t>
            </a:r>
            <a:r>
              <a:rPr lang="en-US" altLang="ko-KR" sz="1200" b="1" dirty="0" smtClean="0">
                <a:solidFill>
                  <a:srgbClr val="0070C0"/>
                </a:solidFill>
              </a:rPr>
              <a:t>]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150" y="4069294"/>
            <a:ext cx="1625813" cy="913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TextBox 37"/>
          <p:cNvSpPr txBox="1"/>
          <p:nvPr/>
        </p:nvSpPr>
        <p:spPr>
          <a:xfrm>
            <a:off x="3561685" y="4991296"/>
            <a:ext cx="1509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0070C0"/>
                </a:solidFill>
              </a:rPr>
              <a:t>[</a:t>
            </a:r>
            <a:r>
              <a:rPr lang="ko-KR" altLang="en-US" sz="1200" b="1" dirty="0" smtClean="0">
                <a:solidFill>
                  <a:srgbClr val="0070C0"/>
                </a:solidFill>
              </a:rPr>
              <a:t>황산 니켈</a:t>
            </a:r>
            <a:r>
              <a:rPr lang="en-US" altLang="ko-KR" sz="1200" b="1" dirty="0" smtClean="0">
                <a:solidFill>
                  <a:srgbClr val="0070C0"/>
                </a:solidFill>
              </a:rPr>
              <a:t>]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24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041"/>
            <a:ext cx="12192000" cy="6893984"/>
          </a:xfrm>
          <a:prstGeom prst="rect">
            <a:avLst/>
          </a:prstGeom>
        </p:spPr>
      </p:pic>
      <p:pic>
        <p:nvPicPr>
          <p:cNvPr id="22" name="Picture 2" descr="E:\lizzy\PPT-by lizzy\自制PNG\iphone5-b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131"/>
          <a:stretch/>
        </p:blipFill>
        <p:spPr bwMode="auto">
          <a:xfrm>
            <a:off x="7226052" y="114173"/>
            <a:ext cx="5221313" cy="498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-1521" y="3773807"/>
            <a:ext cx="121920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0860" y="3947422"/>
            <a:ext cx="27542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黑体" pitchFamily="49" charset="-122"/>
                <a:cs typeface="Arial" panose="020B0604020202020204" pitchFamily="34" charset="0"/>
              </a:rPr>
              <a:t>微信号  </a:t>
            </a:r>
            <a:r>
              <a:rPr lang="en-US" altLang="zh-CN" sz="2400" b="1" dirty="0" err="1" smtClean="0">
                <a:solidFill>
                  <a:schemeClr val="bg1"/>
                </a:solidFill>
                <a:latin typeface="Arial" panose="020B0604020202020204" pitchFamily="34" charset="0"/>
                <a:ea typeface="黑体" pitchFamily="49" charset="-122"/>
                <a:cs typeface="Arial" panose="020B0604020202020204" pitchFamily="34" charset="0"/>
              </a:rPr>
              <a:t>sportsahc</a:t>
            </a:r>
            <a:endParaRPr lang="zh-CN" altLang="en-US" sz="2400" b="1" dirty="0">
              <a:solidFill>
                <a:schemeClr val="bg1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1" y="3888661"/>
            <a:ext cx="596456" cy="596456"/>
          </a:xfrm>
          <a:prstGeom prst="rect">
            <a:avLst/>
          </a:prstGeom>
        </p:spPr>
      </p:pic>
      <p:sp>
        <p:nvSpPr>
          <p:cNvPr id="9" name="Rectangle 32"/>
          <p:cNvSpPr>
            <a:spLocks noChangeArrowheads="1"/>
          </p:cNvSpPr>
          <p:nvPr/>
        </p:nvSpPr>
        <p:spPr bwMode="auto">
          <a:xfrm>
            <a:off x="1295467" y="759258"/>
            <a:ext cx="2976331" cy="861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733" b="1" dirty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감사합니다</a:t>
            </a:r>
            <a:r>
              <a:rPr lang="en-US" altLang="ko-KR" sz="3733" b="1" dirty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.</a:t>
            </a:r>
            <a:endParaRPr lang="ko-KR" altLang="en-US" sz="3733" b="1" dirty="0">
              <a:solidFill>
                <a:schemeClr val="bg1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60860" y="3343091"/>
            <a:ext cx="3256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4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astchina@naver.com</a:t>
            </a:r>
            <a:endParaRPr lang="zh-CN" altLang="en-US" sz="2400" b="1" dirty="0">
              <a:solidFill>
                <a:schemeClr val="bg1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24" name="Oval 12">
            <a:extLst>
              <a:ext uri="{FF2B5EF4-FFF2-40B4-BE49-F238E27FC236}">
                <a16:creationId xmlns:a16="http://schemas.microsoft.com/office/drawing/2014/main" xmlns="" id="{C8A60D36-BE9F-4B90-AB0F-D99C47AB6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96" y="3317127"/>
            <a:ext cx="486561" cy="487629"/>
          </a:xfrm>
          <a:prstGeom prst="ellipse">
            <a:avLst/>
          </a:prstGeom>
          <a:solidFill>
            <a:srgbClr val="CBAB89"/>
          </a:solidFill>
          <a:ln w="12700" cmpd="sng">
            <a:solidFill>
              <a:srgbClr val="FFEECD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5" name="Freeform 41">
            <a:extLst>
              <a:ext uri="{FF2B5EF4-FFF2-40B4-BE49-F238E27FC236}">
                <a16:creationId xmlns:a16="http://schemas.microsoft.com/office/drawing/2014/main" xmlns="" id="{9D5B2596-35C0-4341-A613-E4B995F86EE7}"/>
              </a:ext>
            </a:extLst>
          </p:cNvPr>
          <p:cNvSpPr>
            <a:spLocks noEditPoints="1"/>
          </p:cNvSpPr>
          <p:nvPr/>
        </p:nvSpPr>
        <p:spPr bwMode="auto">
          <a:xfrm>
            <a:off x="676635" y="3454257"/>
            <a:ext cx="278944" cy="219595"/>
          </a:xfrm>
          <a:custGeom>
            <a:avLst/>
            <a:gdLst>
              <a:gd name="T0" fmla="*/ 125 w 148"/>
              <a:gd name="T1" fmla="*/ 0 h 119"/>
              <a:gd name="T2" fmla="*/ 24 w 148"/>
              <a:gd name="T3" fmla="*/ 0 h 119"/>
              <a:gd name="T4" fmla="*/ 0 w 148"/>
              <a:gd name="T5" fmla="*/ 24 h 119"/>
              <a:gd name="T6" fmla="*/ 0 w 148"/>
              <a:gd name="T7" fmla="*/ 95 h 119"/>
              <a:gd name="T8" fmla="*/ 24 w 148"/>
              <a:gd name="T9" fmla="*/ 119 h 119"/>
              <a:gd name="T10" fmla="*/ 125 w 148"/>
              <a:gd name="T11" fmla="*/ 119 h 119"/>
              <a:gd name="T12" fmla="*/ 148 w 148"/>
              <a:gd name="T13" fmla="*/ 95 h 119"/>
              <a:gd name="T14" fmla="*/ 148 w 148"/>
              <a:gd name="T15" fmla="*/ 24 h 119"/>
              <a:gd name="T16" fmla="*/ 125 w 148"/>
              <a:gd name="T17" fmla="*/ 0 h 119"/>
              <a:gd name="T18" fmla="*/ 124 w 148"/>
              <a:gd name="T19" fmla="*/ 13 h 119"/>
              <a:gd name="T20" fmla="*/ 74 w 148"/>
              <a:gd name="T21" fmla="*/ 51 h 119"/>
              <a:gd name="T22" fmla="*/ 25 w 148"/>
              <a:gd name="T23" fmla="*/ 13 h 119"/>
              <a:gd name="T24" fmla="*/ 124 w 148"/>
              <a:gd name="T25" fmla="*/ 13 h 119"/>
              <a:gd name="T26" fmla="*/ 135 w 148"/>
              <a:gd name="T27" fmla="*/ 95 h 119"/>
              <a:gd name="T28" fmla="*/ 125 w 148"/>
              <a:gd name="T29" fmla="*/ 106 h 119"/>
              <a:gd name="T30" fmla="*/ 24 w 148"/>
              <a:gd name="T31" fmla="*/ 106 h 119"/>
              <a:gd name="T32" fmla="*/ 13 w 148"/>
              <a:gd name="T33" fmla="*/ 95 h 119"/>
              <a:gd name="T34" fmla="*/ 13 w 148"/>
              <a:gd name="T35" fmla="*/ 24 h 119"/>
              <a:gd name="T36" fmla="*/ 14 w 148"/>
              <a:gd name="T37" fmla="*/ 21 h 119"/>
              <a:gd name="T38" fmla="*/ 70 w 148"/>
              <a:gd name="T39" fmla="*/ 64 h 119"/>
              <a:gd name="T40" fmla="*/ 74 w 148"/>
              <a:gd name="T41" fmla="*/ 66 h 119"/>
              <a:gd name="T42" fmla="*/ 78 w 148"/>
              <a:gd name="T43" fmla="*/ 64 h 119"/>
              <a:gd name="T44" fmla="*/ 135 w 148"/>
              <a:gd name="T45" fmla="*/ 21 h 119"/>
              <a:gd name="T46" fmla="*/ 135 w 148"/>
              <a:gd name="T47" fmla="*/ 24 h 119"/>
              <a:gd name="T48" fmla="*/ 135 w 148"/>
              <a:gd name="T49" fmla="*/ 95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48" h="119">
                <a:moveTo>
                  <a:pt x="125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95"/>
                  <a:pt x="0" y="95"/>
                  <a:pt x="0" y="95"/>
                </a:cubicBezTo>
                <a:cubicBezTo>
                  <a:pt x="0" y="108"/>
                  <a:pt x="11" y="119"/>
                  <a:pt x="24" y="119"/>
                </a:cubicBezTo>
                <a:cubicBezTo>
                  <a:pt x="125" y="119"/>
                  <a:pt x="125" y="119"/>
                  <a:pt x="125" y="119"/>
                </a:cubicBezTo>
                <a:cubicBezTo>
                  <a:pt x="138" y="119"/>
                  <a:pt x="148" y="108"/>
                  <a:pt x="148" y="95"/>
                </a:cubicBezTo>
                <a:cubicBezTo>
                  <a:pt x="148" y="24"/>
                  <a:pt x="148" y="24"/>
                  <a:pt x="148" y="24"/>
                </a:cubicBezTo>
                <a:cubicBezTo>
                  <a:pt x="148" y="11"/>
                  <a:pt x="138" y="0"/>
                  <a:pt x="125" y="0"/>
                </a:cubicBezTo>
                <a:moveTo>
                  <a:pt x="124" y="13"/>
                </a:moveTo>
                <a:cubicBezTo>
                  <a:pt x="74" y="51"/>
                  <a:pt x="74" y="51"/>
                  <a:pt x="74" y="51"/>
                </a:cubicBezTo>
                <a:cubicBezTo>
                  <a:pt x="25" y="13"/>
                  <a:pt x="25" y="13"/>
                  <a:pt x="25" y="13"/>
                </a:cubicBezTo>
                <a:lnTo>
                  <a:pt x="124" y="13"/>
                </a:lnTo>
                <a:close/>
                <a:moveTo>
                  <a:pt x="135" y="95"/>
                </a:moveTo>
                <a:cubicBezTo>
                  <a:pt x="135" y="101"/>
                  <a:pt x="131" y="106"/>
                  <a:pt x="125" y="106"/>
                </a:cubicBezTo>
                <a:cubicBezTo>
                  <a:pt x="24" y="106"/>
                  <a:pt x="24" y="106"/>
                  <a:pt x="24" y="106"/>
                </a:cubicBezTo>
                <a:cubicBezTo>
                  <a:pt x="18" y="106"/>
                  <a:pt x="13" y="101"/>
                  <a:pt x="13" y="95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3"/>
                  <a:pt x="13" y="22"/>
                  <a:pt x="14" y="21"/>
                </a:cubicBezTo>
                <a:cubicBezTo>
                  <a:pt x="70" y="64"/>
                  <a:pt x="70" y="64"/>
                  <a:pt x="70" y="64"/>
                </a:cubicBezTo>
                <a:cubicBezTo>
                  <a:pt x="71" y="65"/>
                  <a:pt x="73" y="66"/>
                  <a:pt x="74" y="66"/>
                </a:cubicBezTo>
                <a:cubicBezTo>
                  <a:pt x="76" y="66"/>
                  <a:pt x="77" y="65"/>
                  <a:pt x="78" y="64"/>
                </a:cubicBezTo>
                <a:cubicBezTo>
                  <a:pt x="135" y="21"/>
                  <a:pt x="135" y="21"/>
                  <a:pt x="135" y="21"/>
                </a:cubicBezTo>
                <a:cubicBezTo>
                  <a:pt x="135" y="22"/>
                  <a:pt x="135" y="23"/>
                  <a:pt x="135" y="24"/>
                </a:cubicBezTo>
                <a:lnTo>
                  <a:pt x="135" y="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5" t="26666" r="5367" b="23889"/>
          <a:stretch/>
        </p:blipFill>
        <p:spPr>
          <a:xfrm>
            <a:off x="8172872" y="1559293"/>
            <a:ext cx="3180927" cy="3535818"/>
          </a:xfrm>
          <a:prstGeom prst="rect">
            <a:avLst/>
          </a:prstGeom>
        </p:spPr>
      </p:pic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9192797" y="6113107"/>
            <a:ext cx="224783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안한철 대표</a:t>
            </a:r>
            <a:endParaRPr lang="en-US" altLang="ko-KR" sz="1600" b="1" dirty="0" smtClean="0">
              <a:solidFill>
                <a:schemeClr val="bg1"/>
              </a:solidFill>
              <a:latin typeface="Arial" pitchFamily="34" charset="0"/>
              <a:ea typeface="+mj-ea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rPr>
              <a:t>010 4571 1003</a:t>
            </a:r>
            <a:endParaRPr lang="ko-KR" altLang="en-US" sz="1600" b="1" dirty="0">
              <a:solidFill>
                <a:schemeClr val="bg1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grpSp>
        <p:nvGrpSpPr>
          <p:cNvPr id="14" name="组合 21"/>
          <p:cNvGrpSpPr/>
          <p:nvPr/>
        </p:nvGrpSpPr>
        <p:grpSpPr>
          <a:xfrm>
            <a:off x="8925592" y="6207044"/>
            <a:ext cx="219347" cy="219347"/>
            <a:chOff x="801291" y="3535885"/>
            <a:chExt cx="219347" cy="219347"/>
          </a:xfrm>
        </p:grpSpPr>
        <p:sp>
          <p:nvSpPr>
            <p:cNvPr id="15" name="Oval 10"/>
            <p:cNvSpPr>
              <a:spLocks noChangeArrowheads="1"/>
            </p:cNvSpPr>
            <p:nvPr/>
          </p:nvSpPr>
          <p:spPr bwMode="auto">
            <a:xfrm>
              <a:off x="801291" y="3535885"/>
              <a:ext cx="219347" cy="219347"/>
            </a:xfrm>
            <a:prstGeom prst="ellipse">
              <a:avLst/>
            </a:prstGeom>
            <a:solidFill>
              <a:srgbClr val="E4402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CBAB89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 b="1">
                <a:solidFill>
                  <a:srgbClr val="FFFDE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7" name="组合 23"/>
            <p:cNvGrpSpPr/>
            <p:nvPr/>
          </p:nvGrpSpPr>
          <p:grpSpPr>
            <a:xfrm>
              <a:off x="860980" y="3583766"/>
              <a:ext cx="100336" cy="114060"/>
              <a:chOff x="860980" y="3583766"/>
              <a:chExt cx="100336" cy="114060"/>
            </a:xfrm>
          </p:grpSpPr>
          <p:sp>
            <p:nvSpPr>
              <p:cNvPr id="18" name="Freeform 12"/>
              <p:cNvSpPr>
                <a:spLocks noEditPoints="1"/>
              </p:cNvSpPr>
              <p:nvPr/>
            </p:nvSpPr>
            <p:spPr bwMode="auto">
              <a:xfrm>
                <a:off x="884050" y="3583766"/>
                <a:ext cx="53830" cy="53740"/>
              </a:xfrm>
              <a:custGeom>
                <a:avLst/>
                <a:gdLst>
                  <a:gd name="T0" fmla="*/ 31 w 62"/>
                  <a:gd name="T1" fmla="*/ 62 h 62"/>
                  <a:gd name="T2" fmla="*/ 0 w 62"/>
                  <a:gd name="T3" fmla="*/ 31 h 62"/>
                  <a:gd name="T4" fmla="*/ 31 w 62"/>
                  <a:gd name="T5" fmla="*/ 0 h 62"/>
                  <a:gd name="T6" fmla="*/ 62 w 62"/>
                  <a:gd name="T7" fmla="*/ 31 h 62"/>
                  <a:gd name="T8" fmla="*/ 31 w 62"/>
                  <a:gd name="T9" fmla="*/ 62 h 62"/>
                  <a:gd name="T10" fmla="*/ 31 w 62"/>
                  <a:gd name="T11" fmla="*/ 11 h 62"/>
                  <a:gd name="T12" fmla="*/ 11 w 62"/>
                  <a:gd name="T13" fmla="*/ 31 h 62"/>
                  <a:gd name="T14" fmla="*/ 31 w 62"/>
                  <a:gd name="T15" fmla="*/ 51 h 62"/>
                  <a:gd name="T16" fmla="*/ 51 w 62"/>
                  <a:gd name="T17" fmla="*/ 31 h 62"/>
                  <a:gd name="T18" fmla="*/ 31 w 62"/>
                  <a:gd name="T19" fmla="*/ 1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2" h="62">
                    <a:moveTo>
                      <a:pt x="31" y="62"/>
                    </a:moveTo>
                    <a:cubicBezTo>
                      <a:pt x="14" y="62"/>
                      <a:pt x="0" y="48"/>
                      <a:pt x="0" y="31"/>
                    </a:cubicBezTo>
                    <a:cubicBezTo>
                      <a:pt x="0" y="14"/>
                      <a:pt x="14" y="0"/>
                      <a:pt x="31" y="0"/>
                    </a:cubicBezTo>
                    <a:cubicBezTo>
                      <a:pt x="48" y="0"/>
                      <a:pt x="62" y="14"/>
                      <a:pt x="62" y="31"/>
                    </a:cubicBezTo>
                    <a:cubicBezTo>
                      <a:pt x="62" y="48"/>
                      <a:pt x="48" y="62"/>
                      <a:pt x="31" y="62"/>
                    </a:cubicBezTo>
                    <a:close/>
                    <a:moveTo>
                      <a:pt x="31" y="11"/>
                    </a:moveTo>
                    <a:cubicBezTo>
                      <a:pt x="20" y="11"/>
                      <a:pt x="11" y="20"/>
                      <a:pt x="11" y="31"/>
                    </a:cubicBezTo>
                    <a:cubicBezTo>
                      <a:pt x="11" y="42"/>
                      <a:pt x="20" y="51"/>
                      <a:pt x="31" y="51"/>
                    </a:cubicBezTo>
                    <a:cubicBezTo>
                      <a:pt x="42" y="51"/>
                      <a:pt x="51" y="42"/>
                      <a:pt x="51" y="31"/>
                    </a:cubicBezTo>
                    <a:cubicBezTo>
                      <a:pt x="51" y="20"/>
                      <a:pt x="42" y="11"/>
                      <a:pt x="31" y="11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dist"/>
                <a:endParaRPr lang="zh-CN" altLang="en-US" sz="36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Freeform 13"/>
              <p:cNvSpPr>
                <a:spLocks/>
              </p:cNvSpPr>
              <p:nvPr/>
            </p:nvSpPr>
            <p:spPr bwMode="auto">
              <a:xfrm>
                <a:off x="860980" y="3643355"/>
                <a:ext cx="100336" cy="54471"/>
              </a:xfrm>
              <a:custGeom>
                <a:avLst/>
                <a:gdLst>
                  <a:gd name="T0" fmla="*/ 111 w 116"/>
                  <a:gd name="T1" fmla="*/ 63 h 63"/>
                  <a:gd name="T2" fmla="*/ 105 w 116"/>
                  <a:gd name="T3" fmla="*/ 58 h 63"/>
                  <a:gd name="T4" fmla="*/ 58 w 116"/>
                  <a:gd name="T5" fmla="*/ 11 h 63"/>
                  <a:gd name="T6" fmla="*/ 11 w 116"/>
                  <a:gd name="T7" fmla="*/ 58 h 63"/>
                  <a:gd name="T8" fmla="*/ 6 w 116"/>
                  <a:gd name="T9" fmla="*/ 63 h 63"/>
                  <a:gd name="T10" fmla="*/ 0 w 116"/>
                  <a:gd name="T11" fmla="*/ 58 h 63"/>
                  <a:gd name="T12" fmla="*/ 58 w 116"/>
                  <a:gd name="T13" fmla="*/ 0 h 63"/>
                  <a:gd name="T14" fmla="*/ 116 w 116"/>
                  <a:gd name="T15" fmla="*/ 58 h 63"/>
                  <a:gd name="T16" fmla="*/ 111 w 116"/>
                  <a:gd name="T17" fmla="*/ 6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6" h="63">
                    <a:moveTo>
                      <a:pt x="111" y="63"/>
                    </a:moveTo>
                    <a:cubicBezTo>
                      <a:pt x="108" y="63"/>
                      <a:pt x="105" y="61"/>
                      <a:pt x="105" y="58"/>
                    </a:cubicBezTo>
                    <a:cubicBezTo>
                      <a:pt x="105" y="32"/>
                      <a:pt x="84" y="11"/>
                      <a:pt x="58" y="11"/>
                    </a:cubicBezTo>
                    <a:cubicBezTo>
                      <a:pt x="32" y="11"/>
                      <a:pt x="11" y="32"/>
                      <a:pt x="11" y="58"/>
                    </a:cubicBezTo>
                    <a:cubicBezTo>
                      <a:pt x="11" y="61"/>
                      <a:pt x="9" y="63"/>
                      <a:pt x="6" y="63"/>
                    </a:cubicBezTo>
                    <a:cubicBezTo>
                      <a:pt x="3" y="63"/>
                      <a:pt x="0" y="61"/>
                      <a:pt x="0" y="58"/>
                    </a:cubicBezTo>
                    <a:cubicBezTo>
                      <a:pt x="0" y="26"/>
                      <a:pt x="26" y="0"/>
                      <a:pt x="58" y="0"/>
                    </a:cubicBezTo>
                    <a:cubicBezTo>
                      <a:pt x="90" y="0"/>
                      <a:pt x="116" y="26"/>
                      <a:pt x="116" y="58"/>
                    </a:cubicBezTo>
                    <a:cubicBezTo>
                      <a:pt x="116" y="61"/>
                      <a:pt x="114" y="63"/>
                      <a:pt x="111" y="63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dist"/>
                <a:endParaRPr lang="zh-CN" altLang="en-US" sz="36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0" t="7795" r="7653" b="9759"/>
          <a:stretch/>
        </p:blipFill>
        <p:spPr bwMode="auto">
          <a:xfrm>
            <a:off x="576296" y="4568115"/>
            <a:ext cx="486561" cy="478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192375" y="4557016"/>
            <a:ext cx="2408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黑体" pitchFamily="49" charset="-122"/>
                <a:cs typeface="Arial" panose="020B0604020202020204" pitchFamily="34" charset="0"/>
              </a:rPr>
              <a:t>ID : sportsahc1</a:t>
            </a:r>
            <a:endParaRPr lang="zh-CN" altLang="en-US" sz="2400" b="1" dirty="0">
              <a:solidFill>
                <a:schemeClr val="bg1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12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3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autoRev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150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9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0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3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4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3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3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6" presetClass="emph" presetSubtype="0" autoRev="1" fill="hold" grpId="1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animScale>
                                          <p:cBhvr>
                                            <p:cTn id="31" dur="150" fill="hold"/>
                                            <p:tgtEl>
                                              <p:spTgt spid="24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2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4" dur="3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3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6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6" presetClass="emph" presetSubtype="0" autoRev="1" fill="hold" grpId="1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animScale>
                                          <p:cBhvr>
                                            <p:cTn id="38" dur="150" fill="hold"/>
                                            <p:tgtEl>
                                              <p:spTgt spid="2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9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8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46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4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9" grpId="0"/>
          <p:bldP spid="16" grpId="0"/>
          <p:bldP spid="24" grpId="0" animBg="1"/>
          <p:bldP spid="24" grpId="1" animBg="1"/>
          <p:bldP spid="25" grpId="0" animBg="1"/>
          <p:bldP spid="25" grpId="1" animBg="1"/>
          <p:bldP spid="13" grpId="0"/>
          <p:bldP spid="2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3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autoRev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150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3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3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3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6" presetClass="emph" presetSubtype="0" autoRev="1" fill="hold" grpId="1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animScale>
                                          <p:cBhvr>
                                            <p:cTn id="31" dur="150" fill="hold"/>
                                            <p:tgtEl>
                                              <p:spTgt spid="24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2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4" dur="3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3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6" dur="3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6" presetClass="emph" presetSubtype="0" autoRev="1" fill="hold" grpId="1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animScale>
                                          <p:cBhvr>
                                            <p:cTn id="38" dur="150" fill="hold"/>
                                            <p:tgtEl>
                                              <p:spTgt spid="2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9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9" grpId="0"/>
          <p:bldP spid="16" grpId="0"/>
          <p:bldP spid="24" grpId="0" animBg="1"/>
          <p:bldP spid="24" grpId="1" animBg="1"/>
          <p:bldP spid="25" grpId="0" animBg="1"/>
          <p:bldP spid="25" grpId="1" animBg="1"/>
          <p:bldP spid="13" grpId="0"/>
          <p:bldP spid="20" grpId="0"/>
        </p:bldLst>
      </p:timing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34460</TotalTime>
  <Words>532</Words>
  <Application>Microsoft Office PowerPoint</Application>
  <PresentationFormat>사용자 지정</PresentationFormat>
  <Paragraphs>103</Paragraphs>
  <Slides>7</Slides>
  <Notes>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ASUS</dc:creator>
  <cp:lastModifiedBy>user21fg10</cp:lastModifiedBy>
  <cp:revision>73</cp:revision>
  <cp:lastPrinted>2023-11-29T02:01:35Z</cp:lastPrinted>
  <dcterms:created xsi:type="dcterms:W3CDTF">2020-05-21T11:21:23Z</dcterms:created>
  <dcterms:modified xsi:type="dcterms:W3CDTF">2023-12-01T04:36:29Z</dcterms:modified>
</cp:coreProperties>
</file>